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61" r:id="rId4"/>
    <p:sldId id="266" r:id="rId5"/>
    <p:sldId id="259" r:id="rId6"/>
    <p:sldId id="260" r:id="rId7"/>
    <p:sldId id="263" r:id="rId8"/>
    <p:sldId id="267" r:id="rId9"/>
    <p:sldId id="268" r:id="rId10"/>
    <p:sldId id="278" r:id="rId11"/>
    <p:sldId id="269" r:id="rId12"/>
    <p:sldId id="279" r:id="rId13"/>
    <p:sldId id="270" r:id="rId14"/>
    <p:sldId id="280" r:id="rId15"/>
    <p:sldId id="274" r:id="rId16"/>
    <p:sldId id="271" r:id="rId17"/>
    <p:sldId id="272" r:id="rId18"/>
    <p:sldId id="275" r:id="rId19"/>
    <p:sldId id="276" r:id="rId20"/>
    <p:sldId id="262" r:id="rId21"/>
    <p:sldId id="277" r:id="rId22"/>
    <p:sldId id="281" r:id="rId23"/>
    <p:sldId id="2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719"/>
  </p:normalViewPr>
  <p:slideViewPr>
    <p:cSldViewPr snapToGrid="0">
      <p:cViewPr varScale="1">
        <p:scale>
          <a:sx n="116" d="100"/>
          <a:sy n="116" d="100"/>
        </p:scale>
        <p:origin x="20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119508-3FBB-4724-9576-B6D708C1C6E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5A74D60-2364-4ED7-87B6-B60061A27CC0}">
      <dgm:prSet/>
      <dgm:spPr/>
      <dgm:t>
        <a:bodyPr/>
        <a:lstStyle/>
        <a:p>
          <a:pPr>
            <a:lnSpc>
              <a:spcPct val="100000"/>
            </a:lnSpc>
          </a:pPr>
          <a:r>
            <a:rPr lang="en-US"/>
            <a:t>For this project, we used two datasets from a weather dataset for Bangladesh. We took temperature of 20 days for different hours.</a:t>
          </a:r>
        </a:p>
      </dgm:t>
    </dgm:pt>
    <dgm:pt modelId="{7DFE36D9-1486-41A9-8EFF-BC51E836B6A3}" type="parTrans" cxnId="{DF40FA2C-28B1-422F-ACA9-EE0988876F60}">
      <dgm:prSet/>
      <dgm:spPr/>
      <dgm:t>
        <a:bodyPr/>
        <a:lstStyle/>
        <a:p>
          <a:endParaRPr lang="en-US"/>
        </a:p>
      </dgm:t>
    </dgm:pt>
    <dgm:pt modelId="{F4482204-456F-43C2-B8E5-BF7416897C28}" type="sibTrans" cxnId="{DF40FA2C-28B1-422F-ACA9-EE0988876F60}">
      <dgm:prSet/>
      <dgm:spPr/>
      <dgm:t>
        <a:bodyPr/>
        <a:lstStyle/>
        <a:p>
          <a:endParaRPr lang="en-US"/>
        </a:p>
      </dgm:t>
    </dgm:pt>
    <dgm:pt modelId="{D5A3B0C5-21E3-41A3-8D43-5DFF1145A26D}">
      <dgm:prSet/>
      <dgm:spPr/>
      <dgm:t>
        <a:bodyPr/>
        <a:lstStyle/>
        <a:p>
          <a:pPr>
            <a:lnSpc>
              <a:spcPct val="100000"/>
            </a:lnSpc>
          </a:pPr>
          <a:r>
            <a:rPr lang="en-US"/>
            <a:t>we give our data sequences where the sequences are in JSON files. We keep our dataset in two individual folders which are training_files (for training data where 4 files) and predicting_files (for predicting data where also 4 files).</a:t>
          </a:r>
        </a:p>
      </dgm:t>
    </dgm:pt>
    <dgm:pt modelId="{172803C8-8D6C-4236-A302-B370096C2475}" type="parTrans" cxnId="{FD2ED11D-1D5D-4770-9774-CC0EB80CCBD0}">
      <dgm:prSet/>
      <dgm:spPr/>
      <dgm:t>
        <a:bodyPr/>
        <a:lstStyle/>
        <a:p>
          <a:endParaRPr lang="en-US"/>
        </a:p>
      </dgm:t>
    </dgm:pt>
    <dgm:pt modelId="{32FDD44E-14E3-40C4-9DD7-891804E3E8B6}" type="sibTrans" cxnId="{FD2ED11D-1D5D-4770-9774-CC0EB80CCBD0}">
      <dgm:prSet/>
      <dgm:spPr/>
      <dgm:t>
        <a:bodyPr/>
        <a:lstStyle/>
        <a:p>
          <a:endParaRPr lang="en-US"/>
        </a:p>
      </dgm:t>
    </dgm:pt>
    <dgm:pt modelId="{7270898B-3810-40BE-B7A5-92F40863E51F}" type="pres">
      <dgm:prSet presAssocID="{96119508-3FBB-4724-9576-B6D708C1C6EE}" presName="root" presStyleCnt="0">
        <dgm:presLayoutVars>
          <dgm:dir/>
          <dgm:resizeHandles val="exact"/>
        </dgm:presLayoutVars>
      </dgm:prSet>
      <dgm:spPr/>
    </dgm:pt>
    <dgm:pt modelId="{D58735D8-51F8-4556-BC88-7D8BD802050E}" type="pres">
      <dgm:prSet presAssocID="{55A74D60-2364-4ED7-87B6-B60061A27CC0}" presName="compNode" presStyleCnt="0"/>
      <dgm:spPr/>
    </dgm:pt>
    <dgm:pt modelId="{48CA4E41-7CD8-47DD-9D67-6E087E66C5A0}" type="pres">
      <dgm:prSet presAssocID="{55A74D60-2364-4ED7-87B6-B60061A27CC0}" presName="bgRect" presStyleLbl="bgShp" presStyleIdx="0" presStyleCnt="2"/>
      <dgm:spPr/>
    </dgm:pt>
    <dgm:pt modelId="{E8B245FB-C2F9-4E14-851F-AE7C9F057CB9}" type="pres">
      <dgm:prSet presAssocID="{55A74D60-2364-4ED7-87B6-B60061A27CC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C24D6D09-B58D-485B-AFD6-71854E35BD02}" type="pres">
      <dgm:prSet presAssocID="{55A74D60-2364-4ED7-87B6-B60061A27CC0}" presName="spaceRect" presStyleCnt="0"/>
      <dgm:spPr/>
    </dgm:pt>
    <dgm:pt modelId="{0CD5D8B5-E5B0-4C3A-9CA7-0CA200DC599B}" type="pres">
      <dgm:prSet presAssocID="{55A74D60-2364-4ED7-87B6-B60061A27CC0}" presName="parTx" presStyleLbl="revTx" presStyleIdx="0" presStyleCnt="2">
        <dgm:presLayoutVars>
          <dgm:chMax val="0"/>
          <dgm:chPref val="0"/>
        </dgm:presLayoutVars>
      </dgm:prSet>
      <dgm:spPr/>
    </dgm:pt>
    <dgm:pt modelId="{BE48A69F-15B6-480F-A8AE-4262A53F7F64}" type="pres">
      <dgm:prSet presAssocID="{F4482204-456F-43C2-B8E5-BF7416897C28}" presName="sibTrans" presStyleCnt="0"/>
      <dgm:spPr/>
    </dgm:pt>
    <dgm:pt modelId="{AD02949F-C908-4A93-A6DE-879F9C8479E9}" type="pres">
      <dgm:prSet presAssocID="{D5A3B0C5-21E3-41A3-8D43-5DFF1145A26D}" presName="compNode" presStyleCnt="0"/>
      <dgm:spPr/>
    </dgm:pt>
    <dgm:pt modelId="{2B3D85BF-00B4-4D06-9915-770FCBCD4231}" type="pres">
      <dgm:prSet presAssocID="{D5A3B0C5-21E3-41A3-8D43-5DFF1145A26D}" presName="bgRect" presStyleLbl="bgShp" presStyleIdx="1" presStyleCnt="2"/>
      <dgm:spPr/>
    </dgm:pt>
    <dgm:pt modelId="{E84C046F-AD8E-40E9-AFB4-37139519A424}" type="pres">
      <dgm:prSet presAssocID="{D5A3B0C5-21E3-41A3-8D43-5DFF1145A2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pen Folder"/>
        </a:ext>
      </dgm:extLst>
    </dgm:pt>
    <dgm:pt modelId="{03336B9C-0D44-4E6B-A4F1-5E7492478A4B}" type="pres">
      <dgm:prSet presAssocID="{D5A3B0C5-21E3-41A3-8D43-5DFF1145A26D}" presName="spaceRect" presStyleCnt="0"/>
      <dgm:spPr/>
    </dgm:pt>
    <dgm:pt modelId="{6556C466-9986-40A8-8E92-A4202DC77985}" type="pres">
      <dgm:prSet presAssocID="{D5A3B0C5-21E3-41A3-8D43-5DFF1145A26D}" presName="parTx" presStyleLbl="revTx" presStyleIdx="1" presStyleCnt="2">
        <dgm:presLayoutVars>
          <dgm:chMax val="0"/>
          <dgm:chPref val="0"/>
        </dgm:presLayoutVars>
      </dgm:prSet>
      <dgm:spPr/>
    </dgm:pt>
  </dgm:ptLst>
  <dgm:cxnLst>
    <dgm:cxn modelId="{AD5DA50A-5F57-4893-BFFD-A2B8E337000B}" type="presOf" srcId="{55A74D60-2364-4ED7-87B6-B60061A27CC0}" destId="{0CD5D8B5-E5B0-4C3A-9CA7-0CA200DC599B}" srcOrd="0" destOrd="0" presId="urn:microsoft.com/office/officeart/2018/2/layout/IconVerticalSolidList"/>
    <dgm:cxn modelId="{FD2ED11D-1D5D-4770-9774-CC0EB80CCBD0}" srcId="{96119508-3FBB-4724-9576-B6D708C1C6EE}" destId="{D5A3B0C5-21E3-41A3-8D43-5DFF1145A26D}" srcOrd="1" destOrd="0" parTransId="{172803C8-8D6C-4236-A302-B370096C2475}" sibTransId="{32FDD44E-14E3-40C4-9DD7-891804E3E8B6}"/>
    <dgm:cxn modelId="{DF40FA2C-28B1-422F-ACA9-EE0988876F60}" srcId="{96119508-3FBB-4724-9576-B6D708C1C6EE}" destId="{55A74D60-2364-4ED7-87B6-B60061A27CC0}" srcOrd="0" destOrd="0" parTransId="{7DFE36D9-1486-41A9-8EFF-BC51E836B6A3}" sibTransId="{F4482204-456F-43C2-B8E5-BF7416897C28}"/>
    <dgm:cxn modelId="{0395A53E-5D0D-4744-B057-69756C3FD30B}" type="presOf" srcId="{96119508-3FBB-4724-9576-B6D708C1C6EE}" destId="{7270898B-3810-40BE-B7A5-92F40863E51F}" srcOrd="0" destOrd="0" presId="urn:microsoft.com/office/officeart/2018/2/layout/IconVerticalSolidList"/>
    <dgm:cxn modelId="{B3AD9BBD-EB0E-4534-93B3-6A4EDD828279}" type="presOf" srcId="{D5A3B0C5-21E3-41A3-8D43-5DFF1145A26D}" destId="{6556C466-9986-40A8-8E92-A4202DC77985}" srcOrd="0" destOrd="0" presId="urn:microsoft.com/office/officeart/2018/2/layout/IconVerticalSolidList"/>
    <dgm:cxn modelId="{715EFA5B-93DD-43B0-A154-7FEA8B8DF0C3}" type="presParOf" srcId="{7270898B-3810-40BE-B7A5-92F40863E51F}" destId="{D58735D8-51F8-4556-BC88-7D8BD802050E}" srcOrd="0" destOrd="0" presId="urn:microsoft.com/office/officeart/2018/2/layout/IconVerticalSolidList"/>
    <dgm:cxn modelId="{6AA27D42-8382-4942-9E19-CB819B9B03C9}" type="presParOf" srcId="{D58735D8-51F8-4556-BC88-7D8BD802050E}" destId="{48CA4E41-7CD8-47DD-9D67-6E087E66C5A0}" srcOrd="0" destOrd="0" presId="urn:microsoft.com/office/officeart/2018/2/layout/IconVerticalSolidList"/>
    <dgm:cxn modelId="{8F4C2CD2-8CB1-4567-9A71-D317810E8328}" type="presParOf" srcId="{D58735D8-51F8-4556-BC88-7D8BD802050E}" destId="{E8B245FB-C2F9-4E14-851F-AE7C9F057CB9}" srcOrd="1" destOrd="0" presId="urn:microsoft.com/office/officeart/2018/2/layout/IconVerticalSolidList"/>
    <dgm:cxn modelId="{FB07D6EC-57A2-4641-91CB-C14B85AF63BD}" type="presParOf" srcId="{D58735D8-51F8-4556-BC88-7D8BD802050E}" destId="{C24D6D09-B58D-485B-AFD6-71854E35BD02}" srcOrd="2" destOrd="0" presId="urn:microsoft.com/office/officeart/2018/2/layout/IconVerticalSolidList"/>
    <dgm:cxn modelId="{B00609BD-7372-4806-BCA5-AC93492F6A9B}" type="presParOf" srcId="{D58735D8-51F8-4556-BC88-7D8BD802050E}" destId="{0CD5D8B5-E5B0-4C3A-9CA7-0CA200DC599B}" srcOrd="3" destOrd="0" presId="urn:microsoft.com/office/officeart/2018/2/layout/IconVerticalSolidList"/>
    <dgm:cxn modelId="{55A3FC02-9624-459C-BA5B-0828C38ED920}" type="presParOf" srcId="{7270898B-3810-40BE-B7A5-92F40863E51F}" destId="{BE48A69F-15B6-480F-A8AE-4262A53F7F64}" srcOrd="1" destOrd="0" presId="urn:microsoft.com/office/officeart/2018/2/layout/IconVerticalSolidList"/>
    <dgm:cxn modelId="{A50AC793-F3DE-4FB9-AE5A-FFCEB06B7AE2}" type="presParOf" srcId="{7270898B-3810-40BE-B7A5-92F40863E51F}" destId="{AD02949F-C908-4A93-A6DE-879F9C8479E9}" srcOrd="2" destOrd="0" presId="urn:microsoft.com/office/officeart/2018/2/layout/IconVerticalSolidList"/>
    <dgm:cxn modelId="{9E0EAE6F-49A8-4E38-8C6C-02078E05FD75}" type="presParOf" srcId="{AD02949F-C908-4A93-A6DE-879F9C8479E9}" destId="{2B3D85BF-00B4-4D06-9915-770FCBCD4231}" srcOrd="0" destOrd="0" presId="urn:microsoft.com/office/officeart/2018/2/layout/IconVerticalSolidList"/>
    <dgm:cxn modelId="{76068256-E5D1-4749-BCF9-67BE6865BEC3}" type="presParOf" srcId="{AD02949F-C908-4A93-A6DE-879F9C8479E9}" destId="{E84C046F-AD8E-40E9-AFB4-37139519A424}" srcOrd="1" destOrd="0" presId="urn:microsoft.com/office/officeart/2018/2/layout/IconVerticalSolidList"/>
    <dgm:cxn modelId="{A4E1B743-53D1-4887-9AA8-265CFD0979D5}" type="presParOf" srcId="{AD02949F-C908-4A93-A6DE-879F9C8479E9}" destId="{03336B9C-0D44-4E6B-A4F1-5E7492478A4B}" srcOrd="2" destOrd="0" presId="urn:microsoft.com/office/officeart/2018/2/layout/IconVerticalSolidList"/>
    <dgm:cxn modelId="{3CB3BBD9-5925-4B41-9145-56A1AB9B6A98}" type="presParOf" srcId="{AD02949F-C908-4A93-A6DE-879F9C8479E9}" destId="{6556C466-9986-40A8-8E92-A4202DC7798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A4E41-7CD8-47DD-9D67-6E087E66C5A0}">
      <dsp:nvSpPr>
        <dsp:cNvPr id="0" name=""/>
        <dsp:cNvSpPr/>
      </dsp:nvSpPr>
      <dsp:spPr>
        <a:xfrm>
          <a:off x="0" y="707092"/>
          <a:ext cx="6720281"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B245FB-C2F9-4E14-851F-AE7C9F057CB9}">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D5D8B5-E5B0-4C3A-9CA7-0CA200DC599B}">
      <dsp:nvSpPr>
        <dsp:cNvPr id="0" name=""/>
        <dsp:cNvSpPr/>
      </dsp:nvSpPr>
      <dsp:spPr>
        <a:xfrm>
          <a:off x="1507738" y="707092"/>
          <a:ext cx="5212542"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a:t>For this project, we used two datasets from a weather dataset for Bangladesh. We took temperature of 20 days for different hours.</a:t>
          </a:r>
        </a:p>
      </dsp:txBody>
      <dsp:txXfrm>
        <a:off x="1507738" y="707092"/>
        <a:ext cx="5212542" cy="1305401"/>
      </dsp:txXfrm>
    </dsp:sp>
    <dsp:sp modelId="{2B3D85BF-00B4-4D06-9915-770FCBCD4231}">
      <dsp:nvSpPr>
        <dsp:cNvPr id="0" name=""/>
        <dsp:cNvSpPr/>
      </dsp:nvSpPr>
      <dsp:spPr>
        <a:xfrm>
          <a:off x="0" y="2338844"/>
          <a:ext cx="6720281"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4C046F-AD8E-40E9-AFB4-37139519A424}">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56C466-9986-40A8-8E92-A4202DC77985}">
      <dsp:nvSpPr>
        <dsp:cNvPr id="0" name=""/>
        <dsp:cNvSpPr/>
      </dsp:nvSpPr>
      <dsp:spPr>
        <a:xfrm>
          <a:off x="1507738" y="2338844"/>
          <a:ext cx="5212542"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a:t>we give our data sequences where the sequences are in JSON files. We keep our dataset in two individual folders which are training_files (for training data where 4 files) and predicting_files (for predicting data where also 4 files).</a:t>
          </a:r>
        </a:p>
      </dsp:txBody>
      <dsp:txXfrm>
        <a:off x="1507738" y="2338844"/>
        <a:ext cx="5212542" cy="130540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DFCDD7-6B68-4D4F-9462-BD32ACB06AC9}" type="datetimeFigureOut">
              <a:rPr lang="en-US" smtClean="0"/>
              <a:t>3/28/25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F9503B-C6EC-4262-BDBE-2386FFC1316A}" type="slidenum">
              <a:rPr lang="en-US" smtClean="0"/>
              <a:t>‹#›</a:t>
            </a:fld>
            <a:endParaRPr lang="en-US"/>
          </a:p>
        </p:txBody>
      </p:sp>
    </p:spTree>
    <p:extLst>
      <p:ext uri="{BB962C8B-B14F-4D97-AF65-F5344CB8AC3E}">
        <p14:creationId xmlns:p14="http://schemas.microsoft.com/office/powerpoint/2010/main" val="2425431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8B77-1EAC-4373-91C8-5EA1982EA0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E138A0-36CC-4734-A083-EDB0BDD7EB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02B374-9458-4D79-A43A-E52BB7BA09F9}"/>
              </a:ext>
            </a:extLst>
          </p:cNvPr>
          <p:cNvSpPr>
            <a:spLocks noGrp="1"/>
          </p:cNvSpPr>
          <p:nvPr>
            <p:ph type="dt" sz="half" idx="10"/>
          </p:nvPr>
        </p:nvSpPr>
        <p:spPr/>
        <p:txBody>
          <a:bodyPr/>
          <a:lstStyle/>
          <a:p>
            <a:fld id="{7E8E530A-8F09-4D50-8213-2AEF514F6CCA}" type="datetime1">
              <a:rPr lang="en-US" smtClean="0"/>
              <a:t>3/28/25</a:t>
            </a:fld>
            <a:endParaRPr lang="en-US"/>
          </a:p>
        </p:txBody>
      </p:sp>
      <p:sp>
        <p:nvSpPr>
          <p:cNvPr id="5" name="Footer Placeholder 4">
            <a:extLst>
              <a:ext uri="{FF2B5EF4-FFF2-40B4-BE49-F238E27FC236}">
                <a16:creationId xmlns:a16="http://schemas.microsoft.com/office/drawing/2014/main" id="{451352BB-D416-4479-B526-91E8512D7BFC}"/>
              </a:ext>
            </a:extLst>
          </p:cNvPr>
          <p:cNvSpPr>
            <a:spLocks noGrp="1"/>
          </p:cNvSpPr>
          <p:nvPr>
            <p:ph type="ftr" sz="quarter" idx="11"/>
          </p:nvPr>
        </p:nvSpPr>
        <p:spPr/>
        <p:txBody>
          <a:bodyPr/>
          <a:lstStyle/>
          <a:p>
            <a:r>
              <a:rPr lang="en-US"/>
              <a:t>All Rights Reserved by Simply-Coders 2024</a:t>
            </a:r>
          </a:p>
        </p:txBody>
      </p:sp>
      <p:sp>
        <p:nvSpPr>
          <p:cNvPr id="6" name="Slide Number Placeholder 5">
            <a:extLst>
              <a:ext uri="{FF2B5EF4-FFF2-40B4-BE49-F238E27FC236}">
                <a16:creationId xmlns:a16="http://schemas.microsoft.com/office/drawing/2014/main" id="{5977C5D5-F47C-4FC5-B1DC-24DDBF17FD26}"/>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1729316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3C989-1DFC-4A97-8792-7F0AD32986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E09660-4C70-45EE-BB3E-61F54B7B4A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D9EC8-DA4D-4A43-87F0-DA1B4CD02799}"/>
              </a:ext>
            </a:extLst>
          </p:cNvPr>
          <p:cNvSpPr>
            <a:spLocks noGrp="1"/>
          </p:cNvSpPr>
          <p:nvPr>
            <p:ph type="dt" sz="half" idx="10"/>
          </p:nvPr>
        </p:nvSpPr>
        <p:spPr/>
        <p:txBody>
          <a:bodyPr/>
          <a:lstStyle/>
          <a:p>
            <a:fld id="{7A09E5A2-D3EA-4293-B8E4-65DEE664D2CC}" type="datetime1">
              <a:rPr lang="en-US" smtClean="0"/>
              <a:t>3/28/25</a:t>
            </a:fld>
            <a:endParaRPr lang="en-US"/>
          </a:p>
        </p:txBody>
      </p:sp>
      <p:sp>
        <p:nvSpPr>
          <p:cNvPr id="5" name="Footer Placeholder 4">
            <a:extLst>
              <a:ext uri="{FF2B5EF4-FFF2-40B4-BE49-F238E27FC236}">
                <a16:creationId xmlns:a16="http://schemas.microsoft.com/office/drawing/2014/main" id="{BEE5CE28-C319-4664-AF12-45769141C681}"/>
              </a:ext>
            </a:extLst>
          </p:cNvPr>
          <p:cNvSpPr>
            <a:spLocks noGrp="1"/>
          </p:cNvSpPr>
          <p:nvPr>
            <p:ph type="ftr" sz="quarter" idx="11"/>
          </p:nvPr>
        </p:nvSpPr>
        <p:spPr/>
        <p:txBody>
          <a:bodyPr/>
          <a:lstStyle/>
          <a:p>
            <a:r>
              <a:rPr lang="en-US"/>
              <a:t>All Rights Reserved by Simply-Coders 2024</a:t>
            </a:r>
          </a:p>
        </p:txBody>
      </p:sp>
      <p:sp>
        <p:nvSpPr>
          <p:cNvPr id="6" name="Slide Number Placeholder 5">
            <a:extLst>
              <a:ext uri="{FF2B5EF4-FFF2-40B4-BE49-F238E27FC236}">
                <a16:creationId xmlns:a16="http://schemas.microsoft.com/office/drawing/2014/main" id="{01D744BD-12F0-4AE4-8EE4-2E3FC2AE96B8}"/>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958685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FDD3-4E0C-4C78-9359-CE146B6115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D8ABE6-8439-4C38-B933-227C7C3F3B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D4BC063-E2DE-47BC-8916-1FAE714D6DDF}"/>
              </a:ext>
            </a:extLst>
          </p:cNvPr>
          <p:cNvSpPr>
            <a:spLocks noGrp="1"/>
          </p:cNvSpPr>
          <p:nvPr>
            <p:ph type="dt" sz="half" idx="10"/>
          </p:nvPr>
        </p:nvSpPr>
        <p:spPr/>
        <p:txBody>
          <a:bodyPr/>
          <a:lstStyle/>
          <a:p>
            <a:fld id="{85BFBABD-025C-4885-A957-B0FF636024E1}" type="datetime1">
              <a:rPr lang="en-US" smtClean="0"/>
              <a:t>3/28/25</a:t>
            </a:fld>
            <a:endParaRPr lang="en-US"/>
          </a:p>
        </p:txBody>
      </p:sp>
      <p:sp>
        <p:nvSpPr>
          <p:cNvPr id="5" name="Footer Placeholder 4">
            <a:extLst>
              <a:ext uri="{FF2B5EF4-FFF2-40B4-BE49-F238E27FC236}">
                <a16:creationId xmlns:a16="http://schemas.microsoft.com/office/drawing/2014/main" id="{ACA7A51C-CBC1-44F0-A731-1FF9EBB50452}"/>
              </a:ext>
            </a:extLst>
          </p:cNvPr>
          <p:cNvSpPr>
            <a:spLocks noGrp="1"/>
          </p:cNvSpPr>
          <p:nvPr>
            <p:ph type="ftr" sz="quarter" idx="11"/>
          </p:nvPr>
        </p:nvSpPr>
        <p:spPr/>
        <p:txBody>
          <a:bodyPr/>
          <a:lstStyle/>
          <a:p>
            <a:r>
              <a:rPr lang="en-US"/>
              <a:t>All Rights Reserved by Simply-Coders 2024</a:t>
            </a:r>
          </a:p>
        </p:txBody>
      </p:sp>
      <p:sp>
        <p:nvSpPr>
          <p:cNvPr id="6" name="Slide Number Placeholder 5">
            <a:extLst>
              <a:ext uri="{FF2B5EF4-FFF2-40B4-BE49-F238E27FC236}">
                <a16:creationId xmlns:a16="http://schemas.microsoft.com/office/drawing/2014/main" id="{563B9580-5C82-4985-ACE5-EEB47A969BD0}"/>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93212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BDE22-3021-45B8-BC81-BB51DCBEBF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460402-D63D-408E-B887-712BF8C07CC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3BD556-FA1B-4BBF-B6F2-D01EF2B9158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85F7A0-4ED2-405E-A58F-C518827A6739}"/>
              </a:ext>
            </a:extLst>
          </p:cNvPr>
          <p:cNvSpPr>
            <a:spLocks noGrp="1"/>
          </p:cNvSpPr>
          <p:nvPr>
            <p:ph type="dt" sz="half" idx="10"/>
          </p:nvPr>
        </p:nvSpPr>
        <p:spPr/>
        <p:txBody>
          <a:bodyPr/>
          <a:lstStyle/>
          <a:p>
            <a:fld id="{BBBD93AE-6935-4731-8215-05D5664C1F61}" type="datetime1">
              <a:rPr lang="en-US" smtClean="0"/>
              <a:t>3/28/25</a:t>
            </a:fld>
            <a:endParaRPr lang="en-US"/>
          </a:p>
        </p:txBody>
      </p:sp>
      <p:sp>
        <p:nvSpPr>
          <p:cNvPr id="6" name="Footer Placeholder 5">
            <a:extLst>
              <a:ext uri="{FF2B5EF4-FFF2-40B4-BE49-F238E27FC236}">
                <a16:creationId xmlns:a16="http://schemas.microsoft.com/office/drawing/2014/main" id="{65C04A5B-502A-42A6-A0CB-69B91DE1AC79}"/>
              </a:ext>
            </a:extLst>
          </p:cNvPr>
          <p:cNvSpPr>
            <a:spLocks noGrp="1"/>
          </p:cNvSpPr>
          <p:nvPr>
            <p:ph type="ftr" sz="quarter" idx="11"/>
          </p:nvPr>
        </p:nvSpPr>
        <p:spPr/>
        <p:txBody>
          <a:bodyPr/>
          <a:lstStyle/>
          <a:p>
            <a:r>
              <a:rPr lang="en-US"/>
              <a:t>All Rights Reserved by Simply-Coders 2024</a:t>
            </a:r>
          </a:p>
        </p:txBody>
      </p:sp>
      <p:sp>
        <p:nvSpPr>
          <p:cNvPr id="7" name="Slide Number Placeholder 6">
            <a:extLst>
              <a:ext uri="{FF2B5EF4-FFF2-40B4-BE49-F238E27FC236}">
                <a16:creationId xmlns:a16="http://schemas.microsoft.com/office/drawing/2014/main" id="{5136AC5F-5AF3-4AB6-8025-91E15BD7694F}"/>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3751681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C1E11-7A0F-48A2-B5AA-8FB39680B2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198CAC-A135-4047-BEE0-CDE0B6BD72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CB9B0CF-ECA0-44A2-BB93-365F0CAD13C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26E5F3-B678-4B67-AAD4-574CF7F8C3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D2DB528-0EBB-458B-87A3-8E566BE10F9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CA3134-E07C-4FD1-B58A-BC962AD9380B}"/>
              </a:ext>
            </a:extLst>
          </p:cNvPr>
          <p:cNvSpPr>
            <a:spLocks noGrp="1"/>
          </p:cNvSpPr>
          <p:nvPr>
            <p:ph type="dt" sz="half" idx="10"/>
          </p:nvPr>
        </p:nvSpPr>
        <p:spPr/>
        <p:txBody>
          <a:bodyPr/>
          <a:lstStyle/>
          <a:p>
            <a:fld id="{994E1519-8400-40C9-BE6E-10D2629490DF}" type="datetime1">
              <a:rPr lang="en-US" smtClean="0"/>
              <a:t>3/28/25</a:t>
            </a:fld>
            <a:endParaRPr lang="en-US"/>
          </a:p>
        </p:txBody>
      </p:sp>
      <p:sp>
        <p:nvSpPr>
          <p:cNvPr id="8" name="Footer Placeholder 7">
            <a:extLst>
              <a:ext uri="{FF2B5EF4-FFF2-40B4-BE49-F238E27FC236}">
                <a16:creationId xmlns:a16="http://schemas.microsoft.com/office/drawing/2014/main" id="{FBA6FF0D-701D-4DC3-A890-6B06E3A08141}"/>
              </a:ext>
            </a:extLst>
          </p:cNvPr>
          <p:cNvSpPr>
            <a:spLocks noGrp="1"/>
          </p:cNvSpPr>
          <p:nvPr>
            <p:ph type="ftr" sz="quarter" idx="11"/>
          </p:nvPr>
        </p:nvSpPr>
        <p:spPr/>
        <p:txBody>
          <a:bodyPr/>
          <a:lstStyle/>
          <a:p>
            <a:r>
              <a:rPr lang="en-US"/>
              <a:t>All Rights Reserved by Simply-Coders 2024</a:t>
            </a:r>
          </a:p>
        </p:txBody>
      </p:sp>
      <p:sp>
        <p:nvSpPr>
          <p:cNvPr id="9" name="Slide Number Placeholder 8">
            <a:extLst>
              <a:ext uri="{FF2B5EF4-FFF2-40B4-BE49-F238E27FC236}">
                <a16:creationId xmlns:a16="http://schemas.microsoft.com/office/drawing/2014/main" id="{809CA3BB-DEF5-4F71-B067-1023ECFA70CD}"/>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3755165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EBCAD-160B-45CC-A34E-1FED58574D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D2A71B-10A9-4972-BC35-72A936886B64}"/>
              </a:ext>
            </a:extLst>
          </p:cNvPr>
          <p:cNvSpPr>
            <a:spLocks noGrp="1"/>
          </p:cNvSpPr>
          <p:nvPr>
            <p:ph type="dt" sz="half" idx="10"/>
          </p:nvPr>
        </p:nvSpPr>
        <p:spPr/>
        <p:txBody>
          <a:bodyPr/>
          <a:lstStyle/>
          <a:p>
            <a:fld id="{FF277436-8700-4288-AAAF-FA704A11421B}" type="datetime1">
              <a:rPr lang="en-US" smtClean="0"/>
              <a:t>3/28/25</a:t>
            </a:fld>
            <a:endParaRPr lang="en-US"/>
          </a:p>
        </p:txBody>
      </p:sp>
      <p:sp>
        <p:nvSpPr>
          <p:cNvPr id="4" name="Footer Placeholder 3">
            <a:extLst>
              <a:ext uri="{FF2B5EF4-FFF2-40B4-BE49-F238E27FC236}">
                <a16:creationId xmlns:a16="http://schemas.microsoft.com/office/drawing/2014/main" id="{1F9F4FF2-8F6B-4EEB-8112-18098BFE4151}"/>
              </a:ext>
            </a:extLst>
          </p:cNvPr>
          <p:cNvSpPr>
            <a:spLocks noGrp="1"/>
          </p:cNvSpPr>
          <p:nvPr>
            <p:ph type="ftr" sz="quarter" idx="11"/>
          </p:nvPr>
        </p:nvSpPr>
        <p:spPr/>
        <p:txBody>
          <a:bodyPr/>
          <a:lstStyle/>
          <a:p>
            <a:r>
              <a:rPr lang="en-US"/>
              <a:t>All Rights Reserved by Simply-Coders 2024</a:t>
            </a:r>
          </a:p>
        </p:txBody>
      </p:sp>
      <p:sp>
        <p:nvSpPr>
          <p:cNvPr id="5" name="Slide Number Placeholder 4">
            <a:extLst>
              <a:ext uri="{FF2B5EF4-FFF2-40B4-BE49-F238E27FC236}">
                <a16:creationId xmlns:a16="http://schemas.microsoft.com/office/drawing/2014/main" id="{EA1CD295-23A4-44B8-B119-26824100106E}"/>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925987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94C08F-20E8-46EF-9D0C-44E82277B46F}"/>
              </a:ext>
            </a:extLst>
          </p:cNvPr>
          <p:cNvSpPr>
            <a:spLocks noGrp="1"/>
          </p:cNvSpPr>
          <p:nvPr>
            <p:ph type="dt" sz="half" idx="10"/>
          </p:nvPr>
        </p:nvSpPr>
        <p:spPr/>
        <p:txBody>
          <a:bodyPr/>
          <a:lstStyle/>
          <a:p>
            <a:fld id="{110436B4-634D-44CE-BD5E-3634B25F5124}" type="datetime1">
              <a:rPr lang="en-US" smtClean="0"/>
              <a:t>3/28/25</a:t>
            </a:fld>
            <a:endParaRPr lang="en-US"/>
          </a:p>
        </p:txBody>
      </p:sp>
      <p:sp>
        <p:nvSpPr>
          <p:cNvPr id="3" name="Footer Placeholder 2">
            <a:extLst>
              <a:ext uri="{FF2B5EF4-FFF2-40B4-BE49-F238E27FC236}">
                <a16:creationId xmlns:a16="http://schemas.microsoft.com/office/drawing/2014/main" id="{FBB9426D-2451-474A-8E99-0FCA856A80D3}"/>
              </a:ext>
            </a:extLst>
          </p:cNvPr>
          <p:cNvSpPr>
            <a:spLocks noGrp="1"/>
          </p:cNvSpPr>
          <p:nvPr>
            <p:ph type="ftr" sz="quarter" idx="11"/>
          </p:nvPr>
        </p:nvSpPr>
        <p:spPr/>
        <p:txBody>
          <a:bodyPr/>
          <a:lstStyle/>
          <a:p>
            <a:r>
              <a:rPr lang="en-US"/>
              <a:t>All Rights Reserved by Simply-Coders 2024</a:t>
            </a:r>
          </a:p>
        </p:txBody>
      </p:sp>
      <p:sp>
        <p:nvSpPr>
          <p:cNvPr id="4" name="Slide Number Placeholder 3">
            <a:extLst>
              <a:ext uri="{FF2B5EF4-FFF2-40B4-BE49-F238E27FC236}">
                <a16:creationId xmlns:a16="http://schemas.microsoft.com/office/drawing/2014/main" id="{F7984309-E36F-4EB4-AF2E-BC5A577D9E6B}"/>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66771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B736-C031-4DDC-BF35-B061DABF3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A9A87E-A09D-4AFE-A97C-37F641187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C285EF-1DDD-47AE-835D-9835D3BC03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CFB9983-CCB4-4317-A940-25B1E804551A}"/>
              </a:ext>
            </a:extLst>
          </p:cNvPr>
          <p:cNvSpPr>
            <a:spLocks noGrp="1"/>
          </p:cNvSpPr>
          <p:nvPr>
            <p:ph type="dt" sz="half" idx="10"/>
          </p:nvPr>
        </p:nvSpPr>
        <p:spPr/>
        <p:txBody>
          <a:bodyPr/>
          <a:lstStyle/>
          <a:p>
            <a:fld id="{2761E121-DBDB-459F-8318-BCFE346F53B7}" type="datetime1">
              <a:rPr lang="en-US" smtClean="0"/>
              <a:t>3/28/25</a:t>
            </a:fld>
            <a:endParaRPr lang="en-US"/>
          </a:p>
        </p:txBody>
      </p:sp>
      <p:sp>
        <p:nvSpPr>
          <p:cNvPr id="6" name="Footer Placeholder 5">
            <a:extLst>
              <a:ext uri="{FF2B5EF4-FFF2-40B4-BE49-F238E27FC236}">
                <a16:creationId xmlns:a16="http://schemas.microsoft.com/office/drawing/2014/main" id="{A70949DF-4FD1-4598-B631-C78459C2DFE5}"/>
              </a:ext>
            </a:extLst>
          </p:cNvPr>
          <p:cNvSpPr>
            <a:spLocks noGrp="1"/>
          </p:cNvSpPr>
          <p:nvPr>
            <p:ph type="ftr" sz="quarter" idx="11"/>
          </p:nvPr>
        </p:nvSpPr>
        <p:spPr/>
        <p:txBody>
          <a:bodyPr/>
          <a:lstStyle/>
          <a:p>
            <a:r>
              <a:rPr lang="en-US"/>
              <a:t>All Rights Reserved by Simply-Coders 2024</a:t>
            </a:r>
          </a:p>
        </p:txBody>
      </p:sp>
      <p:sp>
        <p:nvSpPr>
          <p:cNvPr id="7" name="Slide Number Placeholder 6">
            <a:extLst>
              <a:ext uri="{FF2B5EF4-FFF2-40B4-BE49-F238E27FC236}">
                <a16:creationId xmlns:a16="http://schemas.microsoft.com/office/drawing/2014/main" id="{2B81A2D1-FF18-44E4-9C94-313B9AE1F9E2}"/>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2087551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3B60A-6ED9-4D95-A898-5DAF9373B2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3D6127-E8C9-4CDA-A39F-FDA43E5B39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8E60BD-42CF-41F7-BFFB-75EE5F52A6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9B33FF7-C830-4A1E-9173-A64D5D5FA25A}"/>
              </a:ext>
            </a:extLst>
          </p:cNvPr>
          <p:cNvSpPr>
            <a:spLocks noGrp="1"/>
          </p:cNvSpPr>
          <p:nvPr>
            <p:ph type="dt" sz="half" idx="10"/>
          </p:nvPr>
        </p:nvSpPr>
        <p:spPr/>
        <p:txBody>
          <a:bodyPr/>
          <a:lstStyle/>
          <a:p>
            <a:fld id="{3EC71AB6-A0B0-4EC1-AF01-6E353DB17D9C}" type="datetime1">
              <a:rPr lang="en-US" smtClean="0"/>
              <a:t>3/28/25</a:t>
            </a:fld>
            <a:endParaRPr lang="en-US"/>
          </a:p>
        </p:txBody>
      </p:sp>
      <p:sp>
        <p:nvSpPr>
          <p:cNvPr id="6" name="Footer Placeholder 5">
            <a:extLst>
              <a:ext uri="{FF2B5EF4-FFF2-40B4-BE49-F238E27FC236}">
                <a16:creationId xmlns:a16="http://schemas.microsoft.com/office/drawing/2014/main" id="{D86B9BF2-A3CE-4256-B9E7-89A54DC6506F}"/>
              </a:ext>
            </a:extLst>
          </p:cNvPr>
          <p:cNvSpPr>
            <a:spLocks noGrp="1"/>
          </p:cNvSpPr>
          <p:nvPr>
            <p:ph type="ftr" sz="quarter" idx="11"/>
          </p:nvPr>
        </p:nvSpPr>
        <p:spPr/>
        <p:txBody>
          <a:bodyPr/>
          <a:lstStyle/>
          <a:p>
            <a:r>
              <a:rPr lang="en-US"/>
              <a:t>All Rights Reserved by Simply-Coders 2024</a:t>
            </a:r>
          </a:p>
        </p:txBody>
      </p:sp>
      <p:sp>
        <p:nvSpPr>
          <p:cNvPr id="7" name="Slide Number Placeholder 6">
            <a:extLst>
              <a:ext uri="{FF2B5EF4-FFF2-40B4-BE49-F238E27FC236}">
                <a16:creationId xmlns:a16="http://schemas.microsoft.com/office/drawing/2014/main" id="{AE519F59-9EC0-4963-9DE6-BFC924F3AA33}"/>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3323756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3790-55EC-42C7-A887-8390FD4395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988667-38CA-4FFA-883E-CEC8832C78E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E49507-BA35-44DE-82CC-99EA45AA237E}"/>
              </a:ext>
            </a:extLst>
          </p:cNvPr>
          <p:cNvSpPr>
            <a:spLocks noGrp="1"/>
          </p:cNvSpPr>
          <p:nvPr>
            <p:ph type="dt" sz="half" idx="10"/>
          </p:nvPr>
        </p:nvSpPr>
        <p:spPr/>
        <p:txBody>
          <a:bodyPr/>
          <a:lstStyle/>
          <a:p>
            <a:fld id="{E40486C5-2B78-4A03-9F7C-B51001C3481F}" type="datetime1">
              <a:rPr lang="en-US" smtClean="0"/>
              <a:t>3/28/25</a:t>
            </a:fld>
            <a:endParaRPr lang="en-US"/>
          </a:p>
        </p:txBody>
      </p:sp>
      <p:sp>
        <p:nvSpPr>
          <p:cNvPr id="5" name="Footer Placeholder 4">
            <a:extLst>
              <a:ext uri="{FF2B5EF4-FFF2-40B4-BE49-F238E27FC236}">
                <a16:creationId xmlns:a16="http://schemas.microsoft.com/office/drawing/2014/main" id="{E3E8FFB8-EC32-403C-99E3-CBDF4854213D}"/>
              </a:ext>
            </a:extLst>
          </p:cNvPr>
          <p:cNvSpPr>
            <a:spLocks noGrp="1"/>
          </p:cNvSpPr>
          <p:nvPr>
            <p:ph type="ftr" sz="quarter" idx="11"/>
          </p:nvPr>
        </p:nvSpPr>
        <p:spPr/>
        <p:txBody>
          <a:bodyPr/>
          <a:lstStyle/>
          <a:p>
            <a:r>
              <a:rPr lang="en-US"/>
              <a:t>All Rights Reserved by Simply-Coders 2024</a:t>
            </a:r>
          </a:p>
        </p:txBody>
      </p:sp>
      <p:sp>
        <p:nvSpPr>
          <p:cNvPr id="6" name="Slide Number Placeholder 5">
            <a:extLst>
              <a:ext uri="{FF2B5EF4-FFF2-40B4-BE49-F238E27FC236}">
                <a16:creationId xmlns:a16="http://schemas.microsoft.com/office/drawing/2014/main" id="{126514D1-B2D4-4649-A33D-1248162BB790}"/>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2415738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B7273A-2FAC-474D-A4C2-502DBE3C2F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BCEDC7-1282-4432-B326-B218CE0295E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7E850-AD25-4C2F-8423-5654FEC579D8}"/>
              </a:ext>
            </a:extLst>
          </p:cNvPr>
          <p:cNvSpPr>
            <a:spLocks noGrp="1"/>
          </p:cNvSpPr>
          <p:nvPr>
            <p:ph type="dt" sz="half" idx="10"/>
          </p:nvPr>
        </p:nvSpPr>
        <p:spPr/>
        <p:txBody>
          <a:bodyPr/>
          <a:lstStyle/>
          <a:p>
            <a:fld id="{E0D71587-1BF2-4E2F-B52D-9A227C3ECE5C}" type="datetime1">
              <a:rPr lang="en-US" smtClean="0"/>
              <a:t>3/28/25</a:t>
            </a:fld>
            <a:endParaRPr lang="en-US"/>
          </a:p>
        </p:txBody>
      </p:sp>
      <p:sp>
        <p:nvSpPr>
          <p:cNvPr id="5" name="Footer Placeholder 4">
            <a:extLst>
              <a:ext uri="{FF2B5EF4-FFF2-40B4-BE49-F238E27FC236}">
                <a16:creationId xmlns:a16="http://schemas.microsoft.com/office/drawing/2014/main" id="{F570F0C1-009B-4A5E-9914-65AFC1E7E35A}"/>
              </a:ext>
            </a:extLst>
          </p:cNvPr>
          <p:cNvSpPr>
            <a:spLocks noGrp="1"/>
          </p:cNvSpPr>
          <p:nvPr>
            <p:ph type="ftr" sz="quarter" idx="11"/>
          </p:nvPr>
        </p:nvSpPr>
        <p:spPr/>
        <p:txBody>
          <a:bodyPr/>
          <a:lstStyle/>
          <a:p>
            <a:r>
              <a:rPr lang="en-US"/>
              <a:t>All Rights Reserved by Simply-Coders 2024</a:t>
            </a:r>
          </a:p>
        </p:txBody>
      </p:sp>
      <p:sp>
        <p:nvSpPr>
          <p:cNvPr id="6" name="Slide Number Placeholder 5">
            <a:extLst>
              <a:ext uri="{FF2B5EF4-FFF2-40B4-BE49-F238E27FC236}">
                <a16:creationId xmlns:a16="http://schemas.microsoft.com/office/drawing/2014/main" id="{97B3DCDF-A472-49B3-A63A-9690D0EC14BA}"/>
              </a:ext>
            </a:extLst>
          </p:cNvPr>
          <p:cNvSpPr>
            <a:spLocks noGrp="1"/>
          </p:cNvSpPr>
          <p:nvPr>
            <p:ph type="sldNum" sz="quarter" idx="12"/>
          </p:nvPr>
        </p:nvSpPr>
        <p:spPr/>
        <p:txBody>
          <a:bodyPr/>
          <a:lstStyle/>
          <a:p>
            <a:fld id="{934D7852-21D4-441F-AC09-05A7427740EC}" type="slidenum">
              <a:rPr lang="en-US" smtClean="0"/>
              <a:t>‹#›</a:t>
            </a:fld>
            <a:endParaRPr lang="en-US"/>
          </a:p>
        </p:txBody>
      </p:sp>
    </p:spTree>
    <p:extLst>
      <p:ext uri="{BB962C8B-B14F-4D97-AF65-F5344CB8AC3E}">
        <p14:creationId xmlns:p14="http://schemas.microsoft.com/office/powerpoint/2010/main" val="3633045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E3CD1E-B865-42BD-8192-F00F872B1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437D93-C3BB-447E-A065-10BEB1C74E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92689-8E6C-4B6D-B325-2FC7E33C22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D77A50-769D-4A5F-B262-F2FBA2CA77AA}" type="datetime1">
              <a:rPr lang="en-US" smtClean="0"/>
              <a:t>3/28/25</a:t>
            </a:fld>
            <a:endParaRPr lang="en-US"/>
          </a:p>
        </p:txBody>
      </p:sp>
      <p:sp>
        <p:nvSpPr>
          <p:cNvPr id="5" name="Footer Placeholder 4">
            <a:extLst>
              <a:ext uri="{FF2B5EF4-FFF2-40B4-BE49-F238E27FC236}">
                <a16:creationId xmlns:a16="http://schemas.microsoft.com/office/drawing/2014/main" id="{B2527E05-4DFB-4EF5-9396-0430B133CA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All Rights Reserved by Simply-Coders 2024</a:t>
            </a:r>
          </a:p>
        </p:txBody>
      </p:sp>
      <p:sp>
        <p:nvSpPr>
          <p:cNvPr id="6" name="Slide Number Placeholder 5">
            <a:extLst>
              <a:ext uri="{FF2B5EF4-FFF2-40B4-BE49-F238E27FC236}">
                <a16:creationId xmlns:a16="http://schemas.microsoft.com/office/drawing/2014/main" id="{7FEAA18D-DD48-4A9F-A01A-0506B622F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4D7852-21D4-441F-AC09-05A7427740EC}" type="slidenum">
              <a:rPr lang="en-US" smtClean="0"/>
              <a:t>‹#›</a:t>
            </a:fld>
            <a:endParaRPr lang="en-US"/>
          </a:p>
        </p:txBody>
      </p:sp>
    </p:spTree>
    <p:extLst>
      <p:ext uri="{BB962C8B-B14F-4D97-AF65-F5344CB8AC3E}">
        <p14:creationId xmlns:p14="http://schemas.microsoft.com/office/powerpoint/2010/main" val="4121441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almahamud1234/neocortexapi/blob/MatrixMasters/source/MySEProject/AnomalyDetectionSample/SequenceVisualizer.cs"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lmahamud1234/neocortexapi/tree/MatrixMasters/source/MySEProject/AnomalyDetectionSample/output/graph"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doi.org/10.1016/j.neucom.2017.08.026"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A9F4F-96C9-4F97-9D3F-E617675C52FC}"/>
              </a:ext>
            </a:extLst>
          </p:cNvPr>
          <p:cNvSpPr>
            <a:spLocks noGrp="1"/>
          </p:cNvSpPr>
          <p:nvPr>
            <p:ph type="ctrTitle"/>
          </p:nvPr>
        </p:nvSpPr>
        <p:spPr>
          <a:xfrm>
            <a:off x="581464" y="643241"/>
            <a:ext cx="4215618" cy="1195755"/>
          </a:xfrm>
        </p:spPr>
        <p:txBody>
          <a:bodyPr>
            <a:noAutofit/>
          </a:bodyPr>
          <a:lstStyle/>
          <a:p>
            <a:r>
              <a:rPr lang="en-US" sz="2000" dirty="0">
                <a:latin typeface="Times New Roman" panose="02020603050405020304" pitchFamily="18" charset="0"/>
                <a:cs typeface="Times New Roman" panose="02020603050405020304" pitchFamily="18" charset="0"/>
              </a:rPr>
              <a:t>Information Technology Course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Module Software Engineering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by Damir </a:t>
            </a:r>
            <a:r>
              <a:rPr lang="en-US" sz="2000" dirty="0" err="1">
                <a:latin typeface="Times New Roman" panose="02020603050405020304" pitchFamily="18" charset="0"/>
                <a:cs typeface="Times New Roman" panose="02020603050405020304" pitchFamily="18" charset="0"/>
              </a:rPr>
              <a:t>Dobric</a:t>
            </a:r>
            <a:r>
              <a:rPr lang="en-US" sz="2000" dirty="0">
                <a:latin typeface="Times New Roman" panose="02020603050405020304" pitchFamily="18" charset="0"/>
                <a:cs typeface="Times New Roman" panose="02020603050405020304" pitchFamily="18" charset="0"/>
              </a:rPr>
              <a:t> / Andreas </a:t>
            </a:r>
            <a:r>
              <a:rPr lang="en-US" sz="2000" dirty="0" err="1">
                <a:latin typeface="Times New Roman" panose="02020603050405020304" pitchFamily="18" charset="0"/>
                <a:cs typeface="Times New Roman" panose="02020603050405020304" pitchFamily="18" charset="0"/>
              </a:rPr>
              <a:t>Pech</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F991135-F02C-4D3D-AFE8-BBCA9BE377B1}"/>
              </a:ext>
            </a:extLst>
          </p:cNvPr>
          <p:cNvSpPr>
            <a:spLocks noGrp="1"/>
          </p:cNvSpPr>
          <p:nvPr>
            <p:ph type="subTitle" idx="1"/>
          </p:nvPr>
        </p:nvSpPr>
        <p:spPr>
          <a:xfrm>
            <a:off x="876886" y="2039815"/>
            <a:ext cx="10438228" cy="1922340"/>
          </a:xfrm>
        </p:spPr>
        <p:txBody>
          <a:bodyPr>
            <a:normAutofit/>
          </a:bodyPr>
          <a:lstStyle/>
          <a:p>
            <a:r>
              <a:rPr lang="en-US" dirty="0">
                <a:latin typeface="Times New Roman" panose="02020603050405020304" pitchFamily="18" charset="0"/>
                <a:cs typeface="Times New Roman" panose="02020603050405020304" pitchFamily="18" charset="0"/>
              </a:rPr>
              <a:t>Presentation On</a:t>
            </a:r>
          </a:p>
          <a:p>
            <a:r>
              <a:rPr lang="en-US" sz="3600" dirty="0">
                <a:latin typeface="Times New Roman" panose="02020603050405020304" pitchFamily="18" charset="0"/>
                <a:cs typeface="Times New Roman" panose="02020603050405020304" pitchFamily="18" charset="0"/>
              </a:rPr>
              <a:t>ML24/25-03: Implement Anomaly Detection Sample</a:t>
            </a:r>
          </a:p>
          <a:p>
            <a:r>
              <a:rPr lang="en-US" dirty="0">
                <a:latin typeface="Times New Roman" panose="02020603050405020304" pitchFamily="18" charset="0"/>
                <a:cs typeface="Times New Roman" panose="02020603050405020304" pitchFamily="18" charset="0"/>
              </a:rPr>
              <a:t>Team Name: </a:t>
            </a:r>
            <a:r>
              <a:rPr lang="en-US" dirty="0" err="1">
                <a:latin typeface="Times New Roman" panose="02020603050405020304" pitchFamily="18" charset="0"/>
                <a:cs typeface="Times New Roman" panose="02020603050405020304" pitchFamily="18" charset="0"/>
              </a:rPr>
              <a:t>MatrixMasters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51D8A66-9971-4CE1-9618-35482EE37398}"/>
              </a:ext>
            </a:extLst>
          </p:cNvPr>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9594166" y="309489"/>
            <a:ext cx="2016370" cy="1062110"/>
          </a:xfrm>
          <a:prstGeom prst="rect">
            <a:avLst/>
          </a:prstGeom>
          <a:effectLst/>
        </p:spPr>
      </p:pic>
      <p:sp>
        <p:nvSpPr>
          <p:cNvPr id="7" name="TextBox 6">
            <a:extLst>
              <a:ext uri="{FF2B5EF4-FFF2-40B4-BE49-F238E27FC236}">
                <a16:creationId xmlns:a16="http://schemas.microsoft.com/office/drawing/2014/main" id="{2C9F27A7-79BF-40DB-9DB0-2849C01B8619}"/>
              </a:ext>
            </a:extLst>
          </p:cNvPr>
          <p:cNvSpPr txBox="1"/>
          <p:nvPr/>
        </p:nvSpPr>
        <p:spPr>
          <a:xfrm>
            <a:off x="9495385" y="5699829"/>
            <a:ext cx="1819729"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Date: 28.03.2025</a:t>
            </a:r>
          </a:p>
        </p:txBody>
      </p:sp>
      <p:sp>
        <p:nvSpPr>
          <p:cNvPr id="8" name="Footer Placeholder 7">
            <a:extLst>
              <a:ext uri="{FF2B5EF4-FFF2-40B4-BE49-F238E27FC236}">
                <a16:creationId xmlns:a16="http://schemas.microsoft.com/office/drawing/2014/main" id="{288C5321-0B58-43DB-B976-6C7F2A93D0D4}"/>
              </a:ext>
            </a:extLst>
          </p:cNvPr>
          <p:cNvSpPr>
            <a:spLocks noGrp="1"/>
          </p:cNvSpPr>
          <p:nvPr>
            <p:ph type="ftr" sz="quarter" idx="11"/>
          </p:nvPr>
        </p:nvSpPr>
        <p:spPr/>
        <p:txBody>
          <a:bodyPr/>
          <a:lstStyle/>
          <a:p>
            <a:r>
              <a:rPr lang="en-US" dirty="0"/>
              <a:t>All Rights Reserved by Matrix Masters 2025</a:t>
            </a:r>
          </a:p>
        </p:txBody>
      </p:sp>
      <p:sp>
        <p:nvSpPr>
          <p:cNvPr id="9" name="TextBox 8">
            <a:extLst>
              <a:ext uri="{FF2B5EF4-FFF2-40B4-BE49-F238E27FC236}">
                <a16:creationId xmlns:a16="http://schemas.microsoft.com/office/drawing/2014/main" id="{2BD8A9DC-496A-9D17-07A7-1F551DB44F5A}"/>
              </a:ext>
            </a:extLst>
          </p:cNvPr>
          <p:cNvSpPr txBox="1"/>
          <p:nvPr/>
        </p:nvSpPr>
        <p:spPr>
          <a:xfrm>
            <a:off x="581464" y="4307205"/>
            <a:ext cx="6096000" cy="646331"/>
          </a:xfrm>
          <a:prstGeom prst="rect">
            <a:avLst/>
          </a:prstGeom>
          <a:noFill/>
        </p:spPr>
        <p:txBody>
          <a:bodyPr wrap="square">
            <a:spAutoFit/>
          </a:bodyPr>
          <a:lstStyle/>
          <a:p>
            <a:pPr algn="ctr">
              <a:spcBef>
                <a:spcPts val="1800"/>
              </a:spcBef>
              <a:spcAft>
                <a:spcPts val="200"/>
              </a:spcAft>
            </a:pPr>
            <a:r>
              <a:rPr lang="en-US" sz="1800" dirty="0">
                <a:effectLst/>
                <a:latin typeface="Times New Roman" panose="02020603050405020304" pitchFamily="18" charset="0"/>
                <a:ea typeface="SimSun" panose="02010600030101010101" pitchFamily="2" charset="-122"/>
              </a:rPr>
              <a:t>Hasan Ahmed </a:t>
            </a:r>
            <a:br>
              <a:rPr lang="en-US" sz="1800" dirty="0">
                <a:effectLst/>
                <a:latin typeface="Times New Roman" panose="02020603050405020304" pitchFamily="18" charset="0"/>
                <a:ea typeface="SimSun" panose="02010600030101010101" pitchFamily="2" charset="-122"/>
              </a:rPr>
            </a:br>
            <a:r>
              <a:rPr lang="en-US" sz="1800" dirty="0">
                <a:effectLst/>
                <a:latin typeface="Times New Roman" panose="02020603050405020304" pitchFamily="18" charset="0"/>
                <a:ea typeface="SimSun" panose="02010600030101010101" pitchFamily="2" charset="-122"/>
              </a:rPr>
              <a:t>hasan.ahmed@stud.fra-uas.de</a:t>
            </a:r>
            <a:endParaRPr lang="de-DE" sz="2800" dirty="0">
              <a:effectLst/>
              <a:latin typeface="Times New Roman" panose="02020603050405020304" pitchFamily="18" charset="0"/>
              <a:ea typeface="SimSun" panose="02010600030101010101" pitchFamily="2" charset="-122"/>
            </a:endParaRPr>
          </a:p>
        </p:txBody>
      </p:sp>
      <p:sp>
        <p:nvSpPr>
          <p:cNvPr id="11" name="TextBox 10">
            <a:extLst>
              <a:ext uri="{FF2B5EF4-FFF2-40B4-BE49-F238E27FC236}">
                <a16:creationId xmlns:a16="http://schemas.microsoft.com/office/drawing/2014/main" id="{22CA1069-038E-0ED9-456A-79263C2396F2}"/>
              </a:ext>
            </a:extLst>
          </p:cNvPr>
          <p:cNvSpPr txBox="1"/>
          <p:nvPr/>
        </p:nvSpPr>
        <p:spPr>
          <a:xfrm>
            <a:off x="6096000" y="4296518"/>
            <a:ext cx="6096000" cy="646331"/>
          </a:xfrm>
          <a:prstGeom prst="rect">
            <a:avLst/>
          </a:prstGeom>
          <a:noFill/>
        </p:spPr>
        <p:txBody>
          <a:bodyPr wrap="square">
            <a:spAutoFit/>
          </a:bodyPr>
          <a:lstStyle/>
          <a:p>
            <a:pPr algn="ctr"/>
            <a:r>
              <a:rPr lang="it-IT" sz="1800" dirty="0">
                <a:effectLst/>
                <a:latin typeface="Times New Roman" panose="02020603050405020304" pitchFamily="18" charset="0"/>
                <a:ea typeface="SimSun" panose="02010600030101010101" pitchFamily="2" charset="-122"/>
              </a:rPr>
              <a:t>Md Abdulla Al Mahamud Rosi</a:t>
            </a:r>
            <a:br>
              <a:rPr lang="it-IT" sz="1800" dirty="0">
                <a:effectLst/>
                <a:latin typeface="Times New Roman" panose="02020603050405020304" pitchFamily="18" charset="0"/>
                <a:ea typeface="SimSun" panose="02010600030101010101" pitchFamily="2" charset="-122"/>
              </a:rPr>
            </a:br>
            <a:r>
              <a:rPr lang="it-IT" sz="1800" dirty="0">
                <a:effectLst/>
                <a:latin typeface="Times New Roman" panose="02020603050405020304" pitchFamily="18" charset="0"/>
                <a:ea typeface="SimSun" panose="02010600030101010101" pitchFamily="2" charset="-122"/>
              </a:rPr>
              <a:t>abdulla.rosi@stud.fra-uas.de</a:t>
            </a:r>
            <a:endParaRPr lang="de-DE" dirty="0"/>
          </a:p>
        </p:txBody>
      </p:sp>
    </p:spTree>
    <p:extLst>
      <p:ext uri="{BB962C8B-B14F-4D97-AF65-F5344CB8AC3E}">
        <p14:creationId xmlns:p14="http://schemas.microsoft.com/office/powerpoint/2010/main" val="2842527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FC2CA-9B57-4AF4-986D-C9C45ACAC89E}"/>
              </a:ext>
            </a:extLst>
          </p:cNvPr>
          <p:cNvSpPr>
            <a:spLocks noGrp="1"/>
          </p:cNvSpPr>
          <p:nvPr>
            <p:ph type="title"/>
          </p:nvPr>
        </p:nvSpPr>
        <p:spPr>
          <a:xfrm>
            <a:off x="838200" y="534572"/>
            <a:ext cx="10515600" cy="1156116"/>
          </a:xfrm>
        </p:spPr>
        <p:txBody>
          <a:bodyPr/>
          <a:lstStyle/>
          <a:p>
            <a:pPr algn="ctr"/>
            <a:r>
              <a:rPr lang="en-US" dirty="0">
                <a:latin typeface="Times New Roman" panose="02020603050405020304" pitchFamily="18" charset="0"/>
                <a:cs typeface="Times New Roman" panose="02020603050405020304" pitchFamily="18" charset="0"/>
              </a:rPr>
              <a:t>Presentation Topics</a:t>
            </a:r>
          </a:p>
        </p:txBody>
      </p:sp>
      <p:sp>
        <p:nvSpPr>
          <p:cNvPr id="3" name="Content Placeholder 2">
            <a:extLst>
              <a:ext uri="{FF2B5EF4-FFF2-40B4-BE49-F238E27FC236}">
                <a16:creationId xmlns:a16="http://schemas.microsoft.com/office/drawing/2014/main" id="{6EA4B16E-E7CF-44E1-A27C-6CE9F9DFC16C}"/>
              </a:ext>
            </a:extLst>
          </p:cNvPr>
          <p:cNvSpPr>
            <a:spLocks noGrp="1"/>
          </p:cNvSpPr>
          <p:nvPr>
            <p:ph idx="1"/>
          </p:nvPr>
        </p:nvSpPr>
        <p:spPr>
          <a:xfrm>
            <a:off x="838199" y="1825625"/>
            <a:ext cx="5935917" cy="4351338"/>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In this presentation our main goal will be on these below topics:</a:t>
            </a:r>
          </a:p>
          <a:p>
            <a:pPr marL="0" indent="0">
              <a:buNone/>
            </a:pP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Introduction to the Project</a:t>
            </a:r>
          </a:p>
          <a:p>
            <a:r>
              <a:rPr lang="en-US" dirty="0">
                <a:latin typeface="Times New Roman" panose="02020603050405020304" pitchFamily="18" charset="0"/>
                <a:cs typeface="Times New Roman" panose="02020603050405020304" pitchFamily="18" charset="0"/>
              </a:rPr>
              <a:t>Concept of </a:t>
            </a:r>
            <a:r>
              <a:rPr lang="en-US" dirty="0" err="1">
                <a:latin typeface="Times New Roman" panose="02020603050405020304" pitchFamily="18" charset="0"/>
                <a:cs typeface="Times New Roman" panose="02020603050405020304" pitchFamily="18" charset="0"/>
              </a:rPr>
              <a:t>NeoCortex</a:t>
            </a:r>
            <a:r>
              <a:rPr lang="en-US" dirty="0">
                <a:latin typeface="Times New Roman" panose="02020603050405020304" pitchFamily="18" charset="0"/>
                <a:cs typeface="Times New Roman" panose="02020603050405020304" pitchFamily="18" charset="0"/>
              </a:rPr>
              <a:t> API </a:t>
            </a:r>
          </a:p>
          <a:p>
            <a:r>
              <a:rPr lang="en-US" dirty="0">
                <a:latin typeface="Times New Roman" panose="02020603050405020304" pitchFamily="18" charset="0"/>
                <a:cs typeface="Times New Roman" panose="02020603050405020304" pitchFamily="18" charset="0"/>
              </a:rPr>
              <a:t>Concept of HTM System</a:t>
            </a:r>
          </a:p>
          <a:p>
            <a:r>
              <a:rPr lang="en-US" dirty="0">
                <a:latin typeface="Times New Roman" panose="02020603050405020304" pitchFamily="18" charset="0"/>
                <a:cs typeface="Times New Roman" panose="02020603050405020304" pitchFamily="18" charset="0"/>
              </a:rPr>
              <a:t>Multi Sequence Learning</a:t>
            </a:r>
          </a:p>
          <a:p>
            <a:r>
              <a:rPr lang="en-US" dirty="0">
                <a:latin typeface="Times New Roman" panose="02020603050405020304" pitchFamily="18" charset="0"/>
                <a:cs typeface="Times New Roman" panose="02020603050405020304" pitchFamily="18" charset="0"/>
              </a:rPr>
              <a:t>Anomaly Detection</a:t>
            </a:r>
          </a:p>
          <a:p>
            <a:r>
              <a:rPr lang="en-US" dirty="0">
                <a:latin typeface="Times New Roman" panose="02020603050405020304" pitchFamily="18" charset="0"/>
                <a:cs typeface="Times New Roman" panose="02020603050405020304" pitchFamily="18" charset="0"/>
              </a:rPr>
              <a:t>Result</a:t>
            </a:r>
          </a:p>
          <a:p>
            <a:pPr marL="0" indent="0">
              <a:buNone/>
            </a:pPr>
            <a:endParaRPr lang="en-US" dirty="0"/>
          </a:p>
        </p:txBody>
      </p:sp>
      <p:pic>
        <p:nvPicPr>
          <p:cNvPr id="2050" name="Picture 2" descr="https://api.nuget.org/v3-flatcontainer/neocortexapi/1.0.12/icon">
            <a:extLst>
              <a:ext uri="{FF2B5EF4-FFF2-40B4-BE49-F238E27FC236}">
                <a16:creationId xmlns:a16="http://schemas.microsoft.com/office/drawing/2014/main" id="{A2FAD5A0-E713-4D52-8AA3-7299A573C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2996" y="1859649"/>
            <a:ext cx="1669368" cy="16693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Users\User\Desktop\Spatiual Pooler.jpg">
            <a:extLst>
              <a:ext uri="{FF2B5EF4-FFF2-40B4-BE49-F238E27FC236}">
                <a16:creationId xmlns:a16="http://schemas.microsoft.com/office/drawing/2014/main" id="{2802D7C1-726E-454D-ACD5-71AEEEEDB041}"/>
              </a:ext>
            </a:extLst>
          </p:cNvPr>
          <p:cNvPicPr>
            <a:picLocks noChangeAspect="1" noChangeArrowheads="1"/>
          </p:cNvPicPr>
          <p:nvPr/>
        </p:nvPicPr>
        <p:blipFill>
          <a:blip r:embed="rId3" cstate="print"/>
          <a:srcRect/>
          <a:stretch>
            <a:fillRect/>
          </a:stretch>
        </p:blipFill>
        <p:spPr bwMode="auto">
          <a:xfrm>
            <a:off x="9441244" y="1859649"/>
            <a:ext cx="2223044" cy="1569351"/>
          </a:xfrm>
          <a:prstGeom prst="rect">
            <a:avLst/>
          </a:prstGeom>
          <a:noFill/>
        </p:spPr>
      </p:pic>
      <p:pic>
        <p:nvPicPr>
          <p:cNvPr id="6" name="Picture 5" descr="C:\Users\User\Desktop\Neocortex.jpg">
            <a:extLst>
              <a:ext uri="{FF2B5EF4-FFF2-40B4-BE49-F238E27FC236}">
                <a16:creationId xmlns:a16="http://schemas.microsoft.com/office/drawing/2014/main" id="{BB26AAA5-9C72-4FC4-9F5F-F69C4F062987}"/>
              </a:ext>
            </a:extLst>
          </p:cNvPr>
          <p:cNvPicPr>
            <a:picLocks noChangeAspect="1" noChangeArrowheads="1"/>
          </p:cNvPicPr>
          <p:nvPr/>
        </p:nvPicPr>
        <p:blipFill>
          <a:blip r:embed="rId4"/>
          <a:srcRect/>
          <a:stretch>
            <a:fillRect/>
          </a:stretch>
        </p:blipFill>
        <p:spPr bwMode="auto">
          <a:xfrm>
            <a:off x="8211975" y="4001294"/>
            <a:ext cx="2203321" cy="1535800"/>
          </a:xfrm>
          <a:prstGeom prst="rect">
            <a:avLst/>
          </a:prstGeom>
          <a:noFill/>
        </p:spPr>
      </p:pic>
      <p:pic>
        <p:nvPicPr>
          <p:cNvPr id="7" name="Picture 6">
            <a:extLst>
              <a:ext uri="{FF2B5EF4-FFF2-40B4-BE49-F238E27FC236}">
                <a16:creationId xmlns:a16="http://schemas.microsoft.com/office/drawing/2014/main" id="{39746671-A1E9-4887-A21F-F37AACA77292}"/>
              </a:ext>
            </a:extLst>
          </p:cNvPr>
          <p:cNvPicPr/>
          <p:nvPr/>
        </p:nvPicPr>
        <p:blipFill>
          <a:blip r:embed="rId5"/>
          <a:stretch>
            <a:fillRect/>
          </a:stretch>
        </p:blipFill>
        <p:spPr>
          <a:xfrm>
            <a:off x="9959926" y="164992"/>
            <a:ext cx="2016370" cy="1062110"/>
          </a:xfrm>
          <a:prstGeom prst="rect">
            <a:avLst/>
          </a:prstGeom>
        </p:spPr>
      </p:pic>
      <p:sp>
        <p:nvSpPr>
          <p:cNvPr id="4" name="Footer Placeholder 3">
            <a:extLst>
              <a:ext uri="{FF2B5EF4-FFF2-40B4-BE49-F238E27FC236}">
                <a16:creationId xmlns:a16="http://schemas.microsoft.com/office/drawing/2014/main" id="{AFE3B673-BD49-492E-9353-86C96F7E795C}"/>
              </a:ext>
            </a:extLst>
          </p:cNvPr>
          <p:cNvSpPr>
            <a:spLocks noGrp="1"/>
          </p:cNvSpPr>
          <p:nvPr>
            <p:ph type="ftr" sz="quarter" idx="11"/>
          </p:nvPr>
        </p:nvSpPr>
        <p:spPr/>
        <p:txBody>
          <a:bodyPr/>
          <a:lstStyle/>
          <a:p>
            <a:r>
              <a:rPr lang="en-US" dirty="0"/>
              <a:t>All Rights Reserved by </a:t>
            </a:r>
            <a:r>
              <a:rPr lang="en-US" dirty="0" err="1"/>
              <a:t>MatrixMasters</a:t>
            </a:r>
            <a:r>
              <a:rPr lang="en-US" dirty="0"/>
              <a:t> 2025</a:t>
            </a:r>
          </a:p>
          <a:p>
            <a:endParaRPr lang="en-US" dirty="0"/>
          </a:p>
        </p:txBody>
      </p:sp>
    </p:spTree>
    <p:extLst>
      <p:ext uri="{BB962C8B-B14F-4D97-AF65-F5344CB8AC3E}">
        <p14:creationId xmlns:p14="http://schemas.microsoft.com/office/powerpoint/2010/main" val="3203066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DAA91-86DC-4B55-8D39-A88ACF40EEA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Introduction and Objective</a:t>
            </a:r>
            <a:endParaRPr lang="en-US" dirty="0"/>
          </a:p>
        </p:txBody>
      </p:sp>
      <p:sp>
        <p:nvSpPr>
          <p:cNvPr id="3" name="Content Placeholder 2">
            <a:extLst>
              <a:ext uri="{FF2B5EF4-FFF2-40B4-BE49-F238E27FC236}">
                <a16:creationId xmlns:a16="http://schemas.microsoft.com/office/drawing/2014/main" id="{755C6A02-357E-43E7-A701-2C0622069485}"/>
              </a:ext>
            </a:extLst>
          </p:cNvPr>
          <p:cNvSpPr>
            <a:spLocks noGrp="1"/>
          </p:cNvSpPr>
          <p:nvPr>
            <p:ph idx="1"/>
          </p:nvPr>
        </p:nvSpPr>
        <p:spPr/>
        <p:txBody>
          <a:bodyPr/>
          <a:lstStyle/>
          <a:p>
            <a:r>
              <a:rPr lang="en-US" dirty="0">
                <a:latin typeface="Times New Roman" panose="02020603050405020304" pitchFamily="18" charset="0"/>
                <a:ea typeface="Tahoma" panose="020B0604030504040204" pitchFamily="34" charset="0"/>
                <a:cs typeface="Times New Roman" panose="02020603050405020304" pitchFamily="18" charset="0"/>
              </a:rPr>
              <a:t>Anomaly detection is a crucial aspect of data analysis and machine learning.</a:t>
            </a:r>
          </a:p>
          <a:p>
            <a:r>
              <a:rPr lang="en-US" dirty="0">
                <a:latin typeface="Times New Roman" panose="02020603050405020304" pitchFamily="18" charset="0"/>
                <a:ea typeface="Tahoma" panose="020B0604030504040204" pitchFamily="34" charset="0"/>
                <a:cs typeface="Times New Roman" panose="02020603050405020304" pitchFamily="18" charset="0"/>
              </a:rPr>
              <a:t>It involves identifying patterns or instances that deviate significantly from normal behavior within a dataset.</a:t>
            </a:r>
          </a:p>
          <a:p>
            <a:r>
              <a:rPr lang="en-US" dirty="0">
                <a:latin typeface="Times New Roman" panose="02020603050405020304" pitchFamily="18" charset="0"/>
                <a:ea typeface="Tahoma" panose="020B0604030504040204" pitchFamily="34" charset="0"/>
                <a:cs typeface="Times New Roman" panose="02020603050405020304" pitchFamily="18" charset="0"/>
              </a:rPr>
              <a:t>Implementing effective anomaly detection techniques is essential for various applications, including fraud detection, cybersecurity, predictive maintenance, and fault detection.</a:t>
            </a:r>
          </a:p>
          <a:p>
            <a:r>
              <a:rPr lang="en-US" dirty="0">
                <a:latin typeface="Times New Roman" panose="02020603050405020304" pitchFamily="18" charset="0"/>
                <a:ea typeface="Tahoma" panose="020B0604030504040204" pitchFamily="34" charset="0"/>
                <a:cs typeface="Times New Roman" panose="02020603050405020304" pitchFamily="18" charset="0"/>
              </a:rPr>
              <a:t>In this presentation, we will explore the implementation of anomaly detection using </a:t>
            </a:r>
            <a:r>
              <a:rPr lang="en-US" dirty="0" err="1">
                <a:latin typeface="Times New Roman" panose="02020603050405020304" pitchFamily="18" charset="0"/>
                <a:ea typeface="Tahoma" panose="020B0604030504040204" pitchFamily="34" charset="0"/>
                <a:cs typeface="Times New Roman" panose="02020603050405020304" pitchFamily="18" charset="0"/>
              </a:rPr>
              <a:t>NeoCortex</a:t>
            </a:r>
            <a:r>
              <a:rPr lang="en-US" dirty="0">
                <a:latin typeface="Times New Roman" panose="02020603050405020304" pitchFamily="18" charset="0"/>
                <a:ea typeface="Tahoma" panose="020B0604030504040204" pitchFamily="34" charset="0"/>
                <a:cs typeface="Times New Roman" panose="02020603050405020304" pitchFamily="18" charset="0"/>
              </a:rPr>
              <a:t> API, HTM, </a:t>
            </a:r>
            <a:r>
              <a:rPr lang="en-US" dirty="0" err="1">
                <a:latin typeface="Times New Roman" panose="02020603050405020304" pitchFamily="18" charset="0"/>
                <a:ea typeface="Tahoma" panose="020B0604030504040204" pitchFamily="34" charset="0"/>
                <a:cs typeface="Times New Roman" panose="02020603050405020304" pitchFamily="18" charset="0"/>
              </a:rPr>
              <a:t>MultiSequenceLearning</a:t>
            </a:r>
            <a:r>
              <a:rPr lang="en-US" dirty="0">
                <a:latin typeface="Times New Roman" panose="02020603050405020304" pitchFamily="18" charset="0"/>
                <a:ea typeface="Tahoma" panose="020B0604030504040204" pitchFamily="34" charset="0"/>
                <a:cs typeface="Times New Roman" panose="02020603050405020304" pitchFamily="18" charset="0"/>
              </a:rPr>
              <a:t> .</a:t>
            </a:r>
          </a:p>
          <a:p>
            <a:endParaRPr lang="en-US"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A5B17CA-5B25-411F-AF4C-F32D2ACDAC8B}"/>
              </a:ext>
            </a:extLst>
          </p:cNvPr>
          <p:cNvSpPr>
            <a:spLocks noGrp="1"/>
          </p:cNvSpPr>
          <p:nvPr>
            <p:ph type="ftr" sz="quarter" idx="11"/>
          </p:nvPr>
        </p:nvSpPr>
        <p:spPr/>
        <p:txBody>
          <a:bodyPr/>
          <a:lstStyle/>
          <a:p>
            <a:r>
              <a:rPr lang="en-US" dirty="0"/>
              <a:t>All Rights Reserved by Matrix Masters 2025</a:t>
            </a:r>
          </a:p>
        </p:txBody>
      </p:sp>
      <p:pic>
        <p:nvPicPr>
          <p:cNvPr id="5" name="Picture 4">
            <a:extLst>
              <a:ext uri="{FF2B5EF4-FFF2-40B4-BE49-F238E27FC236}">
                <a16:creationId xmlns:a16="http://schemas.microsoft.com/office/drawing/2014/main" id="{5FE48DBB-56D2-4B7E-BD79-AF625A7CCAC9}"/>
              </a:ext>
            </a:extLst>
          </p:cNvPr>
          <p:cNvPicPr/>
          <p:nvPr/>
        </p:nvPicPr>
        <p:blipFill>
          <a:blip r:embed="rId2"/>
          <a:stretch>
            <a:fillRect/>
          </a:stretch>
        </p:blipFill>
        <p:spPr>
          <a:xfrm>
            <a:off x="10002129" y="0"/>
            <a:ext cx="2016370" cy="1062110"/>
          </a:xfrm>
          <a:prstGeom prst="rect">
            <a:avLst/>
          </a:prstGeom>
        </p:spPr>
      </p:pic>
    </p:spTree>
    <p:extLst>
      <p:ext uri="{BB962C8B-B14F-4D97-AF65-F5344CB8AC3E}">
        <p14:creationId xmlns:p14="http://schemas.microsoft.com/office/powerpoint/2010/main" val="3110588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DAA91-86DC-4B55-8D39-A88ACF40EEA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Introduction and Objective</a:t>
            </a:r>
            <a:endParaRPr lang="en-US" dirty="0"/>
          </a:p>
        </p:txBody>
      </p:sp>
      <p:sp>
        <p:nvSpPr>
          <p:cNvPr id="3" name="Content Placeholder 2">
            <a:extLst>
              <a:ext uri="{FF2B5EF4-FFF2-40B4-BE49-F238E27FC236}">
                <a16:creationId xmlns:a16="http://schemas.microsoft.com/office/drawing/2014/main" id="{755C6A02-357E-43E7-A701-2C062206948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Our goal is to develop a robust anomaly detection system that can accurately identify and flag anomalies in real-time data streams or historical datasets.</a:t>
            </a:r>
          </a:p>
          <a:p>
            <a:r>
              <a:rPr lang="en-US" dirty="0">
                <a:latin typeface="Times New Roman" panose="02020603050405020304" pitchFamily="18" charset="0"/>
                <a:cs typeface="Times New Roman" panose="02020603050405020304" pitchFamily="18" charset="0"/>
              </a:rPr>
              <a:t>By leveraging HTM algorithms and techniques, we aim to enhance decision-making, mitigate risks, and improve overall system reliability.</a:t>
            </a:r>
          </a:p>
        </p:txBody>
      </p:sp>
      <p:sp>
        <p:nvSpPr>
          <p:cNvPr id="4" name="Footer Placeholder 3">
            <a:extLst>
              <a:ext uri="{FF2B5EF4-FFF2-40B4-BE49-F238E27FC236}">
                <a16:creationId xmlns:a16="http://schemas.microsoft.com/office/drawing/2014/main" id="{1A5B17CA-5B25-411F-AF4C-F32D2ACDAC8B}"/>
              </a:ext>
            </a:extLst>
          </p:cNvPr>
          <p:cNvSpPr>
            <a:spLocks noGrp="1"/>
          </p:cNvSpPr>
          <p:nvPr>
            <p:ph type="ftr" sz="quarter" idx="11"/>
          </p:nvPr>
        </p:nvSpPr>
        <p:spPr/>
        <p:txBody>
          <a:bodyPr/>
          <a:lstStyle/>
          <a:p>
            <a:r>
              <a:rPr lang="en-US" dirty="0"/>
              <a:t>All Rights Reserved by Matrix Masters 2025</a:t>
            </a:r>
          </a:p>
        </p:txBody>
      </p:sp>
      <p:pic>
        <p:nvPicPr>
          <p:cNvPr id="5" name="Picture 4">
            <a:extLst>
              <a:ext uri="{FF2B5EF4-FFF2-40B4-BE49-F238E27FC236}">
                <a16:creationId xmlns:a16="http://schemas.microsoft.com/office/drawing/2014/main" id="{5FE48DBB-56D2-4B7E-BD79-AF625A7CCAC9}"/>
              </a:ext>
            </a:extLst>
          </p:cNvPr>
          <p:cNvPicPr/>
          <p:nvPr/>
        </p:nvPicPr>
        <p:blipFill>
          <a:blip r:embed="rId2"/>
          <a:stretch>
            <a:fillRect/>
          </a:stretch>
        </p:blipFill>
        <p:spPr>
          <a:xfrm>
            <a:off x="10002129" y="0"/>
            <a:ext cx="2016370" cy="1062110"/>
          </a:xfrm>
          <a:prstGeom prst="rect">
            <a:avLst/>
          </a:prstGeom>
        </p:spPr>
      </p:pic>
    </p:spTree>
    <p:extLst>
      <p:ext uri="{BB962C8B-B14F-4D97-AF65-F5344CB8AC3E}">
        <p14:creationId xmlns:p14="http://schemas.microsoft.com/office/powerpoint/2010/main" val="652505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0F70-A9D8-48E3-A85A-2C0D35B665B0}"/>
              </a:ext>
            </a:extLst>
          </p:cNvPr>
          <p:cNvSpPr>
            <a:spLocks noGrp="1"/>
          </p:cNvSpPr>
          <p:nvPr>
            <p:ph type="title"/>
          </p:nvPr>
        </p:nvSpPr>
        <p:spPr/>
        <p:txBody>
          <a:bodyPr/>
          <a:lstStyle/>
          <a:p>
            <a:pPr algn="ctr"/>
            <a:r>
              <a:rPr lang="en-US" dirty="0" err="1">
                <a:latin typeface="Times New Roman" panose="02020603050405020304" pitchFamily="18" charset="0"/>
                <a:cs typeface="Times New Roman" panose="02020603050405020304" pitchFamily="18" charset="0"/>
              </a:rPr>
              <a:t>NeoCortex</a:t>
            </a:r>
            <a:r>
              <a:rPr lang="en-US" dirty="0">
                <a:latin typeface="Times New Roman" panose="02020603050405020304" pitchFamily="18" charset="0"/>
                <a:cs typeface="Times New Roman" panose="02020603050405020304" pitchFamily="18" charset="0"/>
              </a:rPr>
              <a:t> API</a:t>
            </a:r>
          </a:p>
        </p:txBody>
      </p:sp>
      <p:sp>
        <p:nvSpPr>
          <p:cNvPr id="3" name="Content Placeholder 2">
            <a:extLst>
              <a:ext uri="{FF2B5EF4-FFF2-40B4-BE49-F238E27FC236}">
                <a16:creationId xmlns:a16="http://schemas.microsoft.com/office/drawing/2014/main" id="{5D419683-C6A9-46A0-9471-014EE16D86C2}"/>
              </a:ext>
            </a:extLst>
          </p:cNvPr>
          <p:cNvSpPr>
            <a:spLocks noGrp="1"/>
          </p:cNvSpPr>
          <p:nvPr>
            <p:ph idx="1"/>
          </p:nvPr>
        </p:nvSpPr>
        <p:spPr>
          <a:xfrm>
            <a:off x="846406" y="1867828"/>
            <a:ext cx="10515600" cy="4026535"/>
          </a:xfrm>
        </p:spPr>
        <p:txBody>
          <a:bodyPr>
            <a:normAutofit/>
          </a:bodyPr>
          <a:lstStyle/>
          <a:p>
            <a:r>
              <a:rPr lang="en-US" b="1" dirty="0" err="1">
                <a:latin typeface="Times New Roman" panose="02020603050405020304" pitchFamily="18" charset="0"/>
                <a:cs typeface="Times New Roman" panose="02020603050405020304" pitchFamily="18" charset="0"/>
              </a:rPr>
              <a:t>NeoCortex</a:t>
            </a:r>
            <a:r>
              <a:rPr lang="en-US" dirty="0">
                <a:latin typeface="Times New Roman" panose="02020603050405020304" pitchFamily="18" charset="0"/>
                <a:cs typeface="Times New Roman" panose="02020603050405020304" pitchFamily="18" charset="0"/>
              </a:rPr>
              <a:t> API focuses implementation of </a:t>
            </a:r>
            <a:r>
              <a:rPr lang="en-US" i="1" dirty="0">
                <a:latin typeface="Times New Roman" panose="02020603050405020304" pitchFamily="18" charset="0"/>
                <a:cs typeface="Times New Roman" panose="02020603050405020304" pitchFamily="18" charset="0"/>
              </a:rPr>
              <a:t>Hierarchical Temporal Memory Cortical Learning Algorithm.</a:t>
            </a:r>
          </a:p>
          <a:p>
            <a:r>
              <a:rPr lang="en-US" dirty="0">
                <a:latin typeface="Times New Roman" panose="02020603050405020304" pitchFamily="18" charset="0"/>
                <a:cs typeface="Times New Roman" panose="02020603050405020304" pitchFamily="18" charset="0"/>
              </a:rPr>
              <a:t>Support for HTM Algorithms: Includes spatial pooling, temporal memory, sequence learning, and anomaly detection.</a:t>
            </a:r>
          </a:p>
          <a:p>
            <a:r>
              <a:rPr lang="en-US" dirty="0">
                <a:latin typeface="Times New Roman" panose="02020603050405020304" pitchFamily="18" charset="0"/>
                <a:cs typeface="Times New Roman" panose="02020603050405020304" pitchFamily="18" charset="0"/>
              </a:rPr>
              <a:t>Sensory Input Processing: Encodes data into sparse distributed representations (SDRs).</a:t>
            </a:r>
          </a:p>
          <a:p>
            <a:r>
              <a:rPr lang="en-US" dirty="0">
                <a:latin typeface="Times New Roman" panose="02020603050405020304" pitchFamily="18" charset="0"/>
                <a:cs typeface="Times New Roman" panose="02020603050405020304" pitchFamily="18" charset="0"/>
              </a:rPr>
              <a:t>Learning and Inference: Enables real-time learning, prediction, and anomaly detection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2F9F1C6-B534-4E87-A057-51482F29D832}"/>
              </a:ext>
            </a:extLst>
          </p:cNvPr>
          <p:cNvSpPr>
            <a:spLocks noGrp="1"/>
          </p:cNvSpPr>
          <p:nvPr>
            <p:ph type="ftr" sz="quarter" idx="11"/>
          </p:nvPr>
        </p:nvSpPr>
        <p:spPr/>
        <p:txBody>
          <a:bodyPr/>
          <a:lstStyle/>
          <a:p>
            <a:r>
              <a:rPr lang="en-US" dirty="0"/>
              <a:t>All Rights Reserved by Matrix Masters 2025</a:t>
            </a:r>
          </a:p>
        </p:txBody>
      </p:sp>
      <p:pic>
        <p:nvPicPr>
          <p:cNvPr id="5" name="Picture 4">
            <a:extLst>
              <a:ext uri="{FF2B5EF4-FFF2-40B4-BE49-F238E27FC236}">
                <a16:creationId xmlns:a16="http://schemas.microsoft.com/office/drawing/2014/main" id="{3C95AFE3-FE9B-4795-8F4B-9F3D3BDF8B17}"/>
              </a:ext>
            </a:extLst>
          </p:cNvPr>
          <p:cNvPicPr/>
          <p:nvPr/>
        </p:nvPicPr>
        <p:blipFill>
          <a:blip r:embed="rId2"/>
          <a:stretch>
            <a:fillRect/>
          </a:stretch>
        </p:blipFill>
        <p:spPr>
          <a:xfrm>
            <a:off x="9959926" y="164992"/>
            <a:ext cx="2016370" cy="1062110"/>
          </a:xfrm>
          <a:prstGeom prst="rect">
            <a:avLst/>
          </a:prstGeom>
        </p:spPr>
      </p:pic>
    </p:spTree>
    <p:extLst>
      <p:ext uri="{BB962C8B-B14F-4D97-AF65-F5344CB8AC3E}">
        <p14:creationId xmlns:p14="http://schemas.microsoft.com/office/powerpoint/2010/main" val="2350986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854AB-89EE-4F76-8EEA-02D8A6A9AFA9}"/>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Hierarchical Temporal Memory (HTM)</a:t>
            </a:r>
          </a:p>
        </p:txBody>
      </p:sp>
      <p:pic>
        <p:nvPicPr>
          <p:cNvPr id="4" name="Content Placeholder 3">
            <a:extLst>
              <a:ext uri="{FF2B5EF4-FFF2-40B4-BE49-F238E27FC236}">
                <a16:creationId xmlns:a16="http://schemas.microsoft.com/office/drawing/2014/main" id="{259A8991-43D0-476B-BD53-6FC8AD6E25D5}"/>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258643" y="1823879"/>
            <a:ext cx="7287724" cy="2621121"/>
          </a:xfrm>
          <a:prstGeom prst="rect">
            <a:avLst/>
          </a:prstGeom>
        </p:spPr>
      </p:pic>
      <p:sp>
        <p:nvSpPr>
          <p:cNvPr id="5" name="Footer Placeholder 4">
            <a:extLst>
              <a:ext uri="{FF2B5EF4-FFF2-40B4-BE49-F238E27FC236}">
                <a16:creationId xmlns:a16="http://schemas.microsoft.com/office/drawing/2014/main" id="{DD5C87F4-7586-450A-8570-9053E19D7C08}"/>
              </a:ext>
            </a:extLst>
          </p:cNvPr>
          <p:cNvSpPr>
            <a:spLocks noGrp="1"/>
          </p:cNvSpPr>
          <p:nvPr>
            <p:ph type="ftr" sz="quarter" idx="11"/>
          </p:nvPr>
        </p:nvSpPr>
        <p:spPr/>
        <p:txBody>
          <a:bodyPr/>
          <a:lstStyle/>
          <a:p>
            <a:r>
              <a:rPr lang="en-US" dirty="0"/>
              <a:t>All Rights Reserved by Matrix Masters 2025</a:t>
            </a:r>
          </a:p>
        </p:txBody>
      </p:sp>
      <p:sp>
        <p:nvSpPr>
          <p:cNvPr id="6" name="TextBox 5">
            <a:extLst>
              <a:ext uri="{FF2B5EF4-FFF2-40B4-BE49-F238E27FC236}">
                <a16:creationId xmlns:a16="http://schemas.microsoft.com/office/drawing/2014/main" id="{1D8EC57D-DD34-4EF4-BEA2-8A8F901D5DB2}"/>
              </a:ext>
            </a:extLst>
          </p:cNvPr>
          <p:cNvSpPr txBox="1"/>
          <p:nvPr/>
        </p:nvSpPr>
        <p:spPr>
          <a:xfrm>
            <a:off x="4276579" y="5034121"/>
            <a:ext cx="325185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Figure : HTM System Pipeline </a:t>
            </a:r>
          </a:p>
        </p:txBody>
      </p:sp>
      <p:pic>
        <p:nvPicPr>
          <p:cNvPr id="7" name="Picture 6">
            <a:extLst>
              <a:ext uri="{FF2B5EF4-FFF2-40B4-BE49-F238E27FC236}">
                <a16:creationId xmlns:a16="http://schemas.microsoft.com/office/drawing/2014/main" id="{A30F45AC-5FC0-44C1-843F-B8719674BA72}"/>
              </a:ext>
            </a:extLst>
          </p:cNvPr>
          <p:cNvPicPr/>
          <p:nvPr/>
        </p:nvPicPr>
        <p:blipFill>
          <a:blip r:embed="rId3"/>
          <a:stretch>
            <a:fillRect/>
          </a:stretch>
        </p:blipFill>
        <p:spPr>
          <a:xfrm>
            <a:off x="9959926" y="164992"/>
            <a:ext cx="2016370" cy="1062110"/>
          </a:xfrm>
          <a:prstGeom prst="rect">
            <a:avLst/>
          </a:prstGeom>
        </p:spPr>
      </p:pic>
    </p:spTree>
    <p:extLst>
      <p:ext uri="{BB962C8B-B14F-4D97-AF65-F5344CB8AC3E}">
        <p14:creationId xmlns:p14="http://schemas.microsoft.com/office/powerpoint/2010/main" val="1514513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6B40-53C8-4CD9-BA72-8AB99E23E5AA}"/>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Multi Sequence Learning</a:t>
            </a:r>
          </a:p>
        </p:txBody>
      </p:sp>
      <p:sp>
        <p:nvSpPr>
          <p:cNvPr id="3" name="Content Placeholder 2">
            <a:extLst>
              <a:ext uri="{FF2B5EF4-FFF2-40B4-BE49-F238E27FC236}">
                <a16:creationId xmlns:a16="http://schemas.microsoft.com/office/drawing/2014/main" id="{200BB66A-D448-4FC2-8255-9D54105E7138}"/>
              </a:ext>
            </a:extLst>
          </p:cNvPr>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HTM CLA is good is finding patterns in data</a:t>
            </a:r>
          </a:p>
          <a:p>
            <a:r>
              <a:rPr lang="en-US" sz="3200" dirty="0">
                <a:latin typeface="Times New Roman" panose="02020603050405020304" pitchFamily="18" charset="0"/>
                <a:cs typeface="Times New Roman" panose="02020603050405020304" pitchFamily="18" charset="0"/>
              </a:rPr>
              <a:t>We are using </a:t>
            </a:r>
            <a:r>
              <a:rPr lang="en-US" sz="3200" dirty="0" err="1">
                <a:latin typeface="Times New Roman" panose="02020603050405020304" pitchFamily="18" charset="0"/>
                <a:cs typeface="Times New Roman" panose="02020603050405020304" pitchFamily="18" charset="0"/>
              </a:rPr>
              <a:t>NeoCortex</a:t>
            </a:r>
            <a:r>
              <a:rPr lang="en-US" sz="3200" dirty="0">
                <a:latin typeface="Times New Roman" panose="02020603050405020304" pitchFamily="18" charset="0"/>
                <a:cs typeface="Times New Roman" panose="02020603050405020304" pitchFamily="18" charset="0"/>
              </a:rPr>
              <a:t> API, specifically multisequence class, which is based on htm CLA.</a:t>
            </a:r>
          </a:p>
          <a:p>
            <a:r>
              <a:rPr lang="en-US" sz="3200" dirty="0">
                <a:latin typeface="Times New Roman" panose="02020603050405020304" pitchFamily="18" charset="0"/>
                <a:cs typeface="Times New Roman" panose="02020603050405020304" pitchFamily="18" charset="0"/>
              </a:rPr>
              <a:t>Multiple number of sequences can be trained with different datatypes. </a:t>
            </a:r>
          </a:p>
          <a:p>
            <a:r>
              <a:rPr lang="en-US" sz="3200" dirty="0">
                <a:latin typeface="Times New Roman" panose="02020603050405020304" pitchFamily="18" charset="0"/>
                <a:cs typeface="Times New Roman" panose="02020603050405020304" pitchFamily="18" charset="0"/>
              </a:rPr>
              <a:t>We are going to use simple numerical integer sequences.</a:t>
            </a:r>
          </a:p>
          <a:p>
            <a:r>
              <a:rPr lang="en-US" sz="3200" dirty="0">
                <a:latin typeface="Times New Roman" panose="02020603050405020304" pitchFamily="18" charset="0"/>
                <a:cs typeface="Times New Roman" panose="02020603050405020304" pitchFamily="18" charset="0"/>
              </a:rPr>
              <a:t>We have to tune hyper-parameters, like encoder and </a:t>
            </a:r>
            <a:r>
              <a:rPr lang="en-US" sz="3200" dirty="0" err="1">
                <a:latin typeface="Times New Roman" panose="02020603050405020304" pitchFamily="18" charset="0"/>
                <a:cs typeface="Times New Roman" panose="02020603050405020304" pitchFamily="18" charset="0"/>
              </a:rPr>
              <a:t>htmconfig</a:t>
            </a:r>
            <a:r>
              <a:rPr lang="en-US" sz="3200" dirty="0">
                <a:latin typeface="Times New Roman" panose="02020603050405020304" pitchFamily="18" charset="0"/>
                <a:cs typeface="Times New Roman" panose="02020603050405020304" pitchFamily="18" charset="0"/>
              </a:rPr>
              <a:t>, which facilitates training this type of data.</a:t>
            </a:r>
          </a:p>
          <a:p>
            <a:endParaRPr lang="en-US" sz="3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4BC483E-7343-440D-B35E-CEE339A31905}"/>
              </a:ext>
            </a:extLst>
          </p:cNvPr>
          <p:cNvSpPr>
            <a:spLocks noGrp="1"/>
          </p:cNvSpPr>
          <p:nvPr>
            <p:ph type="ftr" sz="quarter" idx="11"/>
          </p:nvPr>
        </p:nvSpPr>
        <p:spPr/>
        <p:txBody>
          <a:bodyPr/>
          <a:lstStyle/>
          <a:p>
            <a:r>
              <a:rPr lang="en-US" dirty="0"/>
              <a:t>All Rights Reserved by Matrix Masters 2025</a:t>
            </a:r>
          </a:p>
        </p:txBody>
      </p:sp>
      <p:pic>
        <p:nvPicPr>
          <p:cNvPr id="6" name="Picture 5">
            <a:extLst>
              <a:ext uri="{FF2B5EF4-FFF2-40B4-BE49-F238E27FC236}">
                <a16:creationId xmlns:a16="http://schemas.microsoft.com/office/drawing/2014/main" id="{CFA039B2-7E05-49FA-B447-DA6CB74481A1}"/>
              </a:ext>
            </a:extLst>
          </p:cNvPr>
          <p:cNvPicPr/>
          <p:nvPr/>
        </p:nvPicPr>
        <p:blipFill>
          <a:blip r:embed="rId2"/>
          <a:stretch>
            <a:fillRect/>
          </a:stretch>
        </p:blipFill>
        <p:spPr>
          <a:xfrm>
            <a:off x="9959926" y="164992"/>
            <a:ext cx="2016370" cy="1062110"/>
          </a:xfrm>
          <a:prstGeom prst="rect">
            <a:avLst/>
          </a:prstGeom>
        </p:spPr>
      </p:pic>
    </p:spTree>
    <p:extLst>
      <p:ext uri="{BB962C8B-B14F-4D97-AF65-F5344CB8AC3E}">
        <p14:creationId xmlns:p14="http://schemas.microsoft.com/office/powerpoint/2010/main" val="2818252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ACB0-E07B-D07A-007C-8092EB0794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AB8C5-82FA-7446-9BD5-00DCA355A131}"/>
              </a:ext>
            </a:extLst>
          </p:cNvPr>
          <p:cNvSpPr>
            <a:spLocks noGrp="1"/>
          </p:cNvSpPr>
          <p:nvPr>
            <p:ph type="title"/>
          </p:nvPr>
        </p:nvSpPr>
        <p:spPr/>
        <p:txBody>
          <a:bodyPr/>
          <a:lstStyle/>
          <a:p>
            <a:pPr algn="ctr"/>
            <a:r>
              <a:rPr lang="en-US" dirty="0" err="1">
                <a:latin typeface="Times New Roman" panose="02020603050405020304" pitchFamily="18" charset="0"/>
                <a:cs typeface="Times New Roman" panose="02020603050405020304" pitchFamily="18" charset="0"/>
              </a:rPr>
              <a:t>DataSet</a:t>
            </a:r>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CD74F58-91DD-476B-B319-55F2B3F6213F}"/>
              </a:ext>
            </a:extLst>
          </p:cNvPr>
          <p:cNvSpPr>
            <a:spLocks noGrp="1"/>
          </p:cNvSpPr>
          <p:nvPr>
            <p:ph type="ftr" sz="quarter" idx="11"/>
          </p:nvPr>
        </p:nvSpPr>
        <p:spPr/>
        <p:txBody>
          <a:bodyPr/>
          <a:lstStyle/>
          <a:p>
            <a:r>
              <a:rPr lang="en-US" dirty="0"/>
              <a:t>All Rights Reserved by Matrix Masters 2025</a:t>
            </a:r>
          </a:p>
        </p:txBody>
      </p:sp>
      <p:pic>
        <p:nvPicPr>
          <p:cNvPr id="9" name="Picture 8" descr="A logo for a university&#10;&#10;AI-generated content may be incorrect.">
            <a:extLst>
              <a:ext uri="{FF2B5EF4-FFF2-40B4-BE49-F238E27FC236}">
                <a16:creationId xmlns:a16="http://schemas.microsoft.com/office/drawing/2014/main" id="{E595CD38-390B-BD1D-C9A3-F03A1CAD4CB6}"/>
              </a:ext>
            </a:extLst>
          </p:cNvPr>
          <p:cNvPicPr/>
          <p:nvPr/>
        </p:nvPicPr>
        <p:blipFill>
          <a:blip r:embed="rId2"/>
          <a:stretch>
            <a:fillRect/>
          </a:stretch>
        </p:blipFill>
        <p:spPr>
          <a:xfrm>
            <a:off x="9959926" y="164992"/>
            <a:ext cx="2016370" cy="1062110"/>
          </a:xfrm>
          <a:prstGeom prst="rect">
            <a:avLst/>
          </a:prstGeom>
        </p:spPr>
      </p:pic>
      <p:graphicFrame>
        <p:nvGraphicFramePr>
          <p:cNvPr id="13" name="Content Placeholder 7">
            <a:extLst>
              <a:ext uri="{FF2B5EF4-FFF2-40B4-BE49-F238E27FC236}">
                <a16:creationId xmlns:a16="http://schemas.microsoft.com/office/drawing/2014/main" id="{06D25ABE-B8B8-7D17-32E9-C0B7A210D51F}"/>
              </a:ext>
            </a:extLst>
          </p:cNvPr>
          <p:cNvGraphicFramePr>
            <a:graphicFrameLocks noGrp="1"/>
          </p:cNvGraphicFramePr>
          <p:nvPr>
            <p:ph idx="1"/>
          </p:nvPr>
        </p:nvGraphicFramePr>
        <p:xfrm>
          <a:off x="838200" y="1825625"/>
          <a:ext cx="672028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Content Placeholder 7">
            <a:extLst>
              <a:ext uri="{FF2B5EF4-FFF2-40B4-BE49-F238E27FC236}">
                <a16:creationId xmlns:a16="http://schemas.microsoft.com/office/drawing/2014/main" id="{03D2873B-165D-A941-3FD1-3C5D2D7052C3}"/>
              </a:ext>
            </a:extLst>
          </p:cNvPr>
          <p:cNvSpPr txBox="1">
            <a:spLocks/>
          </p:cNvSpPr>
          <p:nvPr/>
        </p:nvSpPr>
        <p:spPr>
          <a:xfrm>
            <a:off x="7587842" y="1870075"/>
            <a:ext cx="3808291"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i="0" dirty="0">
                <a:solidFill>
                  <a:srgbClr val="1F2328"/>
                </a:solidFill>
                <a:effectLst/>
                <a:latin typeface="Times New Roman" panose="02020603050405020304" pitchFamily="18" charset="0"/>
                <a:cs typeface="Times New Roman" panose="02020603050405020304" pitchFamily="18" charset="0"/>
              </a:rPr>
              <a:t>Training data</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t>38, 40, 46, 29, 33, 27, 42, 47, 30, 31 </a:t>
            </a:r>
          </a:p>
          <a:p>
            <a:pPr marL="0" indent="0">
              <a:buNone/>
            </a:pPr>
            <a:r>
              <a:rPr lang="en-US" sz="2000" dirty="0"/>
              <a:t>46, 36, 39, 34, 43, 28, 32, 25, 45, 26 </a:t>
            </a:r>
          </a:p>
          <a:p>
            <a:pPr marL="0" indent="0">
              <a:buNone/>
            </a:pPr>
            <a:r>
              <a:rPr lang="en-US" sz="2000" dirty="0"/>
              <a:t>44, 36, 37, 41, 30, 47, 28, 33, 27, 42 </a:t>
            </a:r>
          </a:p>
          <a:p>
            <a:pPr marL="0" indent="0">
              <a:buNone/>
            </a:pPr>
            <a:r>
              <a:rPr lang="en-US" sz="2000" dirty="0"/>
              <a:t>37, 46, 26, 47, 44, 36, 29, 42, 38, 27 </a:t>
            </a:r>
          </a:p>
          <a:p>
            <a:pPr marL="0" indent="0">
              <a:buNone/>
            </a:pPr>
            <a:r>
              <a:rPr lang="en-US" sz="2000" dirty="0"/>
              <a:t>45, 47, 28, 35, 29, 37, 31, 40, 45, 25</a:t>
            </a:r>
          </a:p>
          <a:p>
            <a:pPr marL="0" indent="0">
              <a:buNone/>
            </a:pPr>
            <a:endParaRPr lang="en-US" dirty="0"/>
          </a:p>
          <a:p>
            <a:pPr marL="0" indent="0">
              <a:buNone/>
            </a:pPr>
            <a:r>
              <a:rPr lang="en-US" sz="1400" b="1" dirty="0"/>
              <a:t>Predicting data</a:t>
            </a:r>
          </a:p>
          <a:p>
            <a:pPr marL="0" indent="0">
              <a:buNone/>
            </a:pPr>
            <a:r>
              <a:rPr lang="en-US" sz="2000" dirty="0"/>
              <a:t>30, 18, 42, 19, 79, 20, 44, 16, 25, 17 </a:t>
            </a:r>
          </a:p>
          <a:p>
            <a:pPr marL="0" indent="0">
              <a:buNone/>
            </a:pPr>
            <a:r>
              <a:rPr lang="en-US" sz="2000" dirty="0"/>
              <a:t>19, 21, 3, 22, 41, 24, 39, 16, 34, 15 </a:t>
            </a:r>
          </a:p>
          <a:p>
            <a:pPr marL="0" indent="0">
              <a:buNone/>
            </a:pPr>
            <a:r>
              <a:rPr lang="en-US" sz="2000" dirty="0"/>
              <a:t>43, 32, 27, 35, 66, 30, 41, 23, 18, 31</a:t>
            </a:r>
          </a:p>
          <a:p>
            <a:pPr marL="0" indent="0">
              <a:buNone/>
            </a:pPr>
            <a:r>
              <a:rPr lang="en-US" sz="2000" dirty="0"/>
              <a:t>42, 16, 30, 45, 22, 28, 76, 36, 39, 25 </a:t>
            </a:r>
          </a:p>
          <a:p>
            <a:pPr marL="0" indent="0">
              <a:buNone/>
            </a:pPr>
            <a:r>
              <a:rPr lang="en-US" sz="2000" dirty="0"/>
              <a:t>37, 42, 26, 24, 56, 41, 45, 28, 16, 32</a:t>
            </a:r>
          </a:p>
        </p:txBody>
      </p:sp>
    </p:spTree>
    <p:extLst>
      <p:ext uri="{BB962C8B-B14F-4D97-AF65-F5344CB8AC3E}">
        <p14:creationId xmlns:p14="http://schemas.microsoft.com/office/powerpoint/2010/main" val="1629684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D2E32-F12C-522E-D239-22C95D638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B08A6-0D96-1198-69EB-947821530D43}"/>
              </a:ext>
            </a:extLst>
          </p:cNvPr>
          <p:cNvSpPr>
            <a:spLocks noGrp="1"/>
          </p:cNvSpPr>
          <p:nvPr>
            <p:ph type="title"/>
          </p:nvPr>
        </p:nvSpPr>
        <p:spPr/>
        <p:txBody>
          <a:bodyPr/>
          <a:lstStyle/>
          <a:p>
            <a:pPr algn="l"/>
            <a:r>
              <a:rPr lang="en-US" b="1" i="0" dirty="0">
                <a:solidFill>
                  <a:srgbClr val="1F2328"/>
                </a:solidFill>
                <a:effectLst/>
                <a:latin typeface="-apple-system"/>
              </a:rPr>
              <a:t>Execution of the project</a:t>
            </a:r>
          </a:p>
        </p:txBody>
      </p:sp>
      <p:sp>
        <p:nvSpPr>
          <p:cNvPr id="4" name="Footer Placeholder 3">
            <a:extLst>
              <a:ext uri="{FF2B5EF4-FFF2-40B4-BE49-F238E27FC236}">
                <a16:creationId xmlns:a16="http://schemas.microsoft.com/office/drawing/2014/main" id="{78DDEABE-C452-1666-A5C9-448C1AFD74F3}"/>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D27CD571-2C5A-2DBE-4C4A-15B42D2DBF86}"/>
              </a:ext>
            </a:extLst>
          </p:cNvPr>
          <p:cNvPicPr/>
          <p:nvPr/>
        </p:nvPicPr>
        <p:blipFill>
          <a:blip r:embed="rId2"/>
          <a:stretch>
            <a:fillRect/>
          </a:stretch>
        </p:blipFill>
        <p:spPr>
          <a:xfrm>
            <a:off x="9959926" y="164992"/>
            <a:ext cx="2016370" cy="1062110"/>
          </a:xfrm>
          <a:prstGeom prst="rect">
            <a:avLst/>
          </a:prstGeom>
        </p:spPr>
      </p:pic>
      <p:sp>
        <p:nvSpPr>
          <p:cNvPr id="8" name="Content Placeholder 7">
            <a:extLst>
              <a:ext uri="{FF2B5EF4-FFF2-40B4-BE49-F238E27FC236}">
                <a16:creationId xmlns:a16="http://schemas.microsoft.com/office/drawing/2014/main" id="{C44A20D6-2C90-3781-AE4D-284BF35E1F37}"/>
              </a:ext>
            </a:extLst>
          </p:cNvPr>
          <p:cNvSpPr>
            <a:spLocks noGrp="1"/>
          </p:cNvSpPr>
          <p:nvPr>
            <p:ph idx="1"/>
          </p:nvPr>
        </p:nvSpPr>
        <p:spPr>
          <a:xfrm>
            <a:off x="751115" y="1556657"/>
            <a:ext cx="10602686" cy="4669972"/>
          </a:xfrm>
        </p:spPr>
        <p:txBody>
          <a:bodyPr>
            <a:normAutofit/>
          </a:bodyPr>
          <a:lstStyle/>
          <a:p>
            <a:pPr algn="just"/>
            <a:r>
              <a:rPr lang="en-US" sz="2000" dirty="0"/>
              <a:t>At the beginning, we use the </a:t>
            </a:r>
            <a:r>
              <a:rPr lang="en-US" sz="2000" dirty="0" err="1"/>
              <a:t>ExtractSequencesFromFolder</a:t>
            </a:r>
            <a:r>
              <a:rPr lang="en-US" sz="2000" dirty="0"/>
              <a:t> method of the </a:t>
            </a:r>
            <a:r>
              <a:rPr lang="en-US" sz="2000" dirty="0" err="1"/>
              <a:t>CsvSequenceFolder</a:t>
            </a:r>
            <a:r>
              <a:rPr lang="en-US" sz="2000" dirty="0"/>
              <a:t> class to read all files inside a folder. These classes maintain a list of numerical sequences from the read data for repeated future use. To handle non-numeric data, exception handling is incorporated within certain classes. Additionally, the </a:t>
            </a:r>
            <a:r>
              <a:rPr lang="en-US" sz="2000" dirty="0" err="1"/>
              <a:t>TrimSequences</a:t>
            </a:r>
            <a:r>
              <a:rPr lang="en-US" sz="2000" dirty="0"/>
              <a:t> technique allows data trimming by removing one to four components (numbers 1 through 4) from the start, returning a numeric sequence.</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marL="0" indent="0" algn="just">
              <a:buNone/>
            </a:pPr>
            <a:endParaRPr lang="en-US" sz="2000" dirty="0"/>
          </a:p>
          <a:p>
            <a:pPr algn="just"/>
            <a:endParaRPr lang="en-US" sz="2000" dirty="0"/>
          </a:p>
        </p:txBody>
      </p:sp>
      <p:sp>
        <p:nvSpPr>
          <p:cNvPr id="5" name="Rectangle 2">
            <a:extLst>
              <a:ext uri="{FF2B5EF4-FFF2-40B4-BE49-F238E27FC236}">
                <a16:creationId xmlns:a16="http://schemas.microsoft.com/office/drawing/2014/main" id="{B2F74874-6FE7-48FA-CEFA-D934889E2AE3}"/>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5624A0E4-40E8-0377-D0DA-42398FB50139}"/>
              </a:ext>
            </a:extLst>
          </p:cNvPr>
          <p:cNvPicPr>
            <a:picLocks noChangeAspect="1"/>
          </p:cNvPicPr>
          <p:nvPr/>
        </p:nvPicPr>
        <p:blipFill>
          <a:blip r:embed="rId3"/>
          <a:stretch>
            <a:fillRect/>
          </a:stretch>
        </p:blipFill>
        <p:spPr>
          <a:xfrm>
            <a:off x="1534259" y="3271931"/>
            <a:ext cx="8643884" cy="2720548"/>
          </a:xfrm>
          <a:prstGeom prst="rect">
            <a:avLst/>
          </a:prstGeom>
        </p:spPr>
      </p:pic>
    </p:spTree>
    <p:extLst>
      <p:ext uri="{BB962C8B-B14F-4D97-AF65-F5344CB8AC3E}">
        <p14:creationId xmlns:p14="http://schemas.microsoft.com/office/powerpoint/2010/main" val="1289817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C57F-84A6-CE1E-1F80-D1BBC32C34BD}"/>
              </a:ext>
            </a:extLst>
          </p:cNvPr>
          <p:cNvSpPr>
            <a:spLocks noGrp="1"/>
          </p:cNvSpPr>
          <p:nvPr>
            <p:ph type="title"/>
          </p:nvPr>
        </p:nvSpPr>
        <p:spPr/>
        <p:txBody>
          <a:bodyPr/>
          <a:lstStyle/>
          <a:p>
            <a:r>
              <a:rPr lang="en-US" b="1" i="0" dirty="0">
                <a:solidFill>
                  <a:srgbClr val="1F2328"/>
                </a:solidFill>
                <a:effectLst/>
                <a:latin typeface="-apple-system"/>
              </a:rPr>
              <a:t>Execution of the project (Cont</a:t>
            </a:r>
            <a:r>
              <a:rPr lang="en-US" b="1" dirty="0">
                <a:solidFill>
                  <a:srgbClr val="1F2328"/>
                </a:solidFill>
                <a:latin typeface="-apple-system"/>
              </a:rPr>
              <a:t>.)</a:t>
            </a:r>
            <a:endParaRPr lang="de-DE" dirty="0"/>
          </a:p>
        </p:txBody>
      </p:sp>
      <p:sp>
        <p:nvSpPr>
          <p:cNvPr id="3" name="Content Placeholder 2">
            <a:extLst>
              <a:ext uri="{FF2B5EF4-FFF2-40B4-BE49-F238E27FC236}">
                <a16:creationId xmlns:a16="http://schemas.microsoft.com/office/drawing/2014/main" id="{60AA1BD5-B81C-84E6-A5EA-1BAE98801216}"/>
              </a:ext>
            </a:extLst>
          </p:cNvPr>
          <p:cNvSpPr>
            <a:spLocks noGrp="1"/>
          </p:cNvSpPr>
          <p:nvPr>
            <p:ph idx="1"/>
          </p:nvPr>
        </p:nvSpPr>
        <p:spPr/>
        <p:txBody>
          <a:bodyPr/>
          <a:lstStyle/>
          <a:p>
            <a:r>
              <a:rPr lang="en-US" sz="2800" dirty="0"/>
              <a:t>Next, the</a:t>
            </a:r>
            <a:r>
              <a:rPr lang="en-US" dirty="0"/>
              <a:t> </a:t>
            </a:r>
            <a:r>
              <a:rPr lang="en-US" sz="2800" dirty="0" err="1"/>
              <a:t>ConvertToHTMInput</a:t>
            </a:r>
            <a:r>
              <a:rPr lang="en-US" sz="2800" dirty="0"/>
              <a:t> method of the </a:t>
            </a:r>
            <a:r>
              <a:rPr lang="en-US" sz="2800" dirty="0" err="1"/>
              <a:t>CSVToHTMInputConverter</a:t>
            </a:r>
            <a:r>
              <a:rPr lang="en-US" sz="2800" dirty="0"/>
              <a:t> class is used to convert all the read sequences into a format suitable for HTM training.</a:t>
            </a:r>
          </a:p>
          <a:p>
            <a:endParaRPr lang="de-DE" dirty="0"/>
          </a:p>
        </p:txBody>
      </p:sp>
      <p:sp>
        <p:nvSpPr>
          <p:cNvPr id="4" name="Footer Placeholder 3">
            <a:extLst>
              <a:ext uri="{FF2B5EF4-FFF2-40B4-BE49-F238E27FC236}">
                <a16:creationId xmlns:a16="http://schemas.microsoft.com/office/drawing/2014/main" id="{F25D8DC7-2657-AC6E-85CD-B9F044EC2439}"/>
              </a:ext>
            </a:extLst>
          </p:cNvPr>
          <p:cNvSpPr>
            <a:spLocks noGrp="1"/>
          </p:cNvSpPr>
          <p:nvPr>
            <p:ph type="ftr" sz="quarter" idx="11"/>
          </p:nvPr>
        </p:nvSpPr>
        <p:spPr/>
        <p:txBody>
          <a:bodyPr/>
          <a:lstStyle/>
          <a:p>
            <a:r>
              <a:rPr lang="en-US"/>
              <a:t>All Rights Reserved by Simply-Coders 2024</a:t>
            </a:r>
          </a:p>
        </p:txBody>
      </p:sp>
      <p:pic>
        <p:nvPicPr>
          <p:cNvPr id="6" name="Picture 5">
            <a:extLst>
              <a:ext uri="{FF2B5EF4-FFF2-40B4-BE49-F238E27FC236}">
                <a16:creationId xmlns:a16="http://schemas.microsoft.com/office/drawing/2014/main" id="{D7B99B30-75E4-1841-94D2-710BA91E5E5C}"/>
              </a:ext>
            </a:extLst>
          </p:cNvPr>
          <p:cNvPicPr>
            <a:picLocks noChangeAspect="1"/>
          </p:cNvPicPr>
          <p:nvPr/>
        </p:nvPicPr>
        <p:blipFill>
          <a:blip r:embed="rId2"/>
          <a:stretch>
            <a:fillRect/>
          </a:stretch>
        </p:blipFill>
        <p:spPr>
          <a:xfrm>
            <a:off x="1309812" y="3408909"/>
            <a:ext cx="6546147" cy="1905165"/>
          </a:xfrm>
          <a:prstGeom prst="rect">
            <a:avLst/>
          </a:prstGeom>
        </p:spPr>
      </p:pic>
      <p:pic>
        <p:nvPicPr>
          <p:cNvPr id="5" name="Picture 4">
            <a:extLst>
              <a:ext uri="{FF2B5EF4-FFF2-40B4-BE49-F238E27FC236}">
                <a16:creationId xmlns:a16="http://schemas.microsoft.com/office/drawing/2014/main" id="{1C5D98A4-2671-9FEE-AC82-DF121AE6CF8B}"/>
              </a:ext>
            </a:extLst>
          </p:cNvPr>
          <p:cNvPicPr/>
          <p:nvPr/>
        </p:nvPicPr>
        <p:blipFill>
          <a:blip r:embed="rId3"/>
          <a:stretch>
            <a:fillRect/>
          </a:stretch>
        </p:blipFill>
        <p:spPr>
          <a:xfrm>
            <a:off x="9959926" y="164992"/>
            <a:ext cx="2016370" cy="1062110"/>
          </a:xfrm>
          <a:prstGeom prst="rect">
            <a:avLst/>
          </a:prstGeom>
        </p:spPr>
      </p:pic>
    </p:spTree>
    <p:extLst>
      <p:ext uri="{BB962C8B-B14F-4D97-AF65-F5344CB8AC3E}">
        <p14:creationId xmlns:p14="http://schemas.microsoft.com/office/powerpoint/2010/main" val="60094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6CBBE-67F8-5161-601A-99F866F41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9ADE6-B96C-8812-3550-00760D4C1814}"/>
              </a:ext>
            </a:extLst>
          </p:cNvPr>
          <p:cNvSpPr>
            <a:spLocks noGrp="1"/>
          </p:cNvSpPr>
          <p:nvPr>
            <p:ph type="title"/>
          </p:nvPr>
        </p:nvSpPr>
        <p:spPr/>
        <p:txBody>
          <a:bodyPr/>
          <a:lstStyle/>
          <a:p>
            <a:pPr algn="l"/>
            <a:r>
              <a:rPr lang="en-US" b="1" i="0" dirty="0">
                <a:solidFill>
                  <a:srgbClr val="1F2328"/>
                </a:solidFill>
                <a:effectLst/>
                <a:latin typeface="-apple-system"/>
              </a:rPr>
              <a:t>Execution of the project (Cont.)</a:t>
            </a:r>
          </a:p>
        </p:txBody>
      </p:sp>
      <p:sp>
        <p:nvSpPr>
          <p:cNvPr id="4" name="Footer Placeholder 3">
            <a:extLst>
              <a:ext uri="{FF2B5EF4-FFF2-40B4-BE49-F238E27FC236}">
                <a16:creationId xmlns:a16="http://schemas.microsoft.com/office/drawing/2014/main" id="{2AD1136E-4182-FB70-11AF-25BEF8F48186}"/>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7F60B6EA-260F-3F1C-F9CF-5F5D364F97A5}"/>
              </a:ext>
            </a:extLst>
          </p:cNvPr>
          <p:cNvPicPr/>
          <p:nvPr/>
        </p:nvPicPr>
        <p:blipFill>
          <a:blip r:embed="rId2"/>
          <a:stretch>
            <a:fillRect/>
          </a:stretch>
        </p:blipFill>
        <p:spPr>
          <a:xfrm>
            <a:off x="9959926" y="164992"/>
            <a:ext cx="2016370" cy="1062110"/>
          </a:xfrm>
          <a:prstGeom prst="rect">
            <a:avLst/>
          </a:prstGeom>
        </p:spPr>
      </p:pic>
      <p:sp>
        <p:nvSpPr>
          <p:cNvPr id="8" name="Content Placeholder 7">
            <a:extLst>
              <a:ext uri="{FF2B5EF4-FFF2-40B4-BE49-F238E27FC236}">
                <a16:creationId xmlns:a16="http://schemas.microsoft.com/office/drawing/2014/main" id="{FA3E73F8-112B-7A36-F39D-E1C9B42816B5}"/>
              </a:ext>
            </a:extLst>
          </p:cNvPr>
          <p:cNvSpPr>
            <a:spLocks noGrp="1"/>
          </p:cNvSpPr>
          <p:nvPr>
            <p:ph idx="1"/>
          </p:nvPr>
        </p:nvSpPr>
        <p:spPr>
          <a:xfrm>
            <a:off x="838200" y="1825625"/>
            <a:ext cx="11258725" cy="4351338"/>
          </a:xfrm>
        </p:spPr>
        <p:txBody>
          <a:bodyPr>
            <a:normAutofit/>
          </a:bodyPr>
          <a:lstStyle/>
          <a:p>
            <a:pPr algn="just"/>
            <a:r>
              <a:rPr lang="en-US" sz="2000" dirty="0"/>
              <a:t>After that, the </a:t>
            </a:r>
            <a:r>
              <a:rPr lang="en-US" sz="2000" dirty="0" err="1"/>
              <a:t>ExecuteHTMModelTraining</a:t>
            </a:r>
            <a:r>
              <a:rPr lang="en-US" sz="2000" dirty="0"/>
              <a:t> method of the </a:t>
            </a:r>
            <a:r>
              <a:rPr lang="en-US" sz="2000" dirty="0" err="1"/>
              <a:t>HTMTrainingManager</a:t>
            </a:r>
            <a:r>
              <a:rPr lang="en-US" sz="2000" dirty="0"/>
              <a:t> class is used to train the model using the converted sequences. The numerical data sequences from both the training (for learning) and predicting folders are combined before training the HTM engine. This class then returns the trained model object, which serves as the </a:t>
            </a:r>
            <a:r>
              <a:rPr lang="en-US" sz="2000" dirty="0" err="1"/>
              <a:t>predictor.Next</a:t>
            </a:r>
            <a:r>
              <a:rPr lang="en-US" sz="2000" dirty="0"/>
              <a:t>, the </a:t>
            </a:r>
            <a:r>
              <a:rPr lang="en-US" sz="2000" dirty="0" err="1"/>
              <a:t>ConvertToHTMInput</a:t>
            </a:r>
            <a:r>
              <a:rPr lang="en-US" sz="2000" dirty="0"/>
              <a:t> method of the </a:t>
            </a:r>
            <a:r>
              <a:rPr lang="en-US" sz="2000" dirty="0" err="1"/>
              <a:t>CSVToHTMInputConverter</a:t>
            </a:r>
            <a:r>
              <a:rPr lang="en-US" sz="2000" dirty="0"/>
              <a:t> class is used to convert all the read sequences into a format suitable for HTM training.</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p:txBody>
      </p:sp>
      <p:sp>
        <p:nvSpPr>
          <p:cNvPr id="5" name="Rectangle 2">
            <a:extLst>
              <a:ext uri="{FF2B5EF4-FFF2-40B4-BE49-F238E27FC236}">
                <a16:creationId xmlns:a16="http://schemas.microsoft.com/office/drawing/2014/main" id="{CF0BF8DE-2A46-B596-07FE-A572C9A856BD}"/>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68A147C-4666-9808-2706-C75353124726}"/>
              </a:ext>
            </a:extLst>
          </p:cNvPr>
          <p:cNvPicPr>
            <a:picLocks noChangeAspect="1"/>
          </p:cNvPicPr>
          <p:nvPr/>
        </p:nvPicPr>
        <p:blipFill>
          <a:blip r:embed="rId3"/>
          <a:stretch>
            <a:fillRect/>
          </a:stretch>
        </p:blipFill>
        <p:spPr>
          <a:xfrm>
            <a:off x="1388731" y="3824097"/>
            <a:ext cx="6584251" cy="1699407"/>
          </a:xfrm>
          <a:prstGeom prst="rect">
            <a:avLst/>
          </a:prstGeom>
        </p:spPr>
      </p:pic>
    </p:spTree>
    <p:extLst>
      <p:ext uri="{BB962C8B-B14F-4D97-AF65-F5344CB8AC3E}">
        <p14:creationId xmlns:p14="http://schemas.microsoft.com/office/powerpoint/2010/main" val="4100578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488EF-AF33-4A83-8D10-D3CBDFDD26C6}"/>
              </a:ext>
            </a:extLst>
          </p:cNvPr>
          <p:cNvSpPr>
            <a:spLocks noGrp="1"/>
          </p:cNvSpPr>
          <p:nvPr>
            <p:ph type="title"/>
          </p:nvPr>
        </p:nvSpPr>
        <p:spPr/>
        <p:txBody>
          <a:bodyPr/>
          <a:lstStyle/>
          <a:p>
            <a:r>
              <a:rPr lang="en-US" b="1" i="0" dirty="0">
                <a:solidFill>
                  <a:srgbClr val="1F2328"/>
                </a:solidFill>
                <a:effectLst/>
                <a:latin typeface="-apple-system"/>
              </a:rPr>
              <a:t>Execution of the project (Cont.)</a:t>
            </a:r>
            <a:endParaRPr lang="de-DE" dirty="0"/>
          </a:p>
        </p:txBody>
      </p:sp>
      <p:sp>
        <p:nvSpPr>
          <p:cNvPr id="3" name="Content Placeholder 2">
            <a:extLst>
              <a:ext uri="{FF2B5EF4-FFF2-40B4-BE49-F238E27FC236}">
                <a16:creationId xmlns:a16="http://schemas.microsoft.com/office/drawing/2014/main" id="{955C4F03-B986-3924-E01F-D5E36DF666F4}"/>
              </a:ext>
            </a:extLst>
          </p:cNvPr>
          <p:cNvSpPr>
            <a:spLocks noGrp="1"/>
          </p:cNvSpPr>
          <p:nvPr>
            <p:ph idx="1"/>
          </p:nvPr>
        </p:nvSpPr>
        <p:spPr/>
        <p:txBody>
          <a:bodyPr/>
          <a:lstStyle/>
          <a:p>
            <a:pPr algn="justLow"/>
            <a:r>
              <a:rPr lang="en-US" sz="2000" dirty="0">
                <a:latin typeface="Times New Roman" panose="02020603050405020304" pitchFamily="18" charset="0"/>
                <a:cs typeface="Times New Roman" panose="02020603050405020304" pitchFamily="18" charset="0"/>
              </a:rPr>
              <a:t>In the end, we use the </a:t>
            </a:r>
            <a:r>
              <a:rPr lang="en-US" sz="2000" dirty="0" err="1">
                <a:latin typeface="Times New Roman" panose="02020603050405020304" pitchFamily="18" charset="0"/>
                <a:cs typeface="Times New Roman" panose="02020603050405020304" pitchFamily="18" charset="0"/>
              </a:rPr>
              <a:t>HTMAnomalyExperiment</a:t>
            </a:r>
            <a:r>
              <a:rPr lang="en-US" sz="2000" dirty="0">
                <a:latin typeface="Times New Roman" panose="02020603050405020304" pitchFamily="18" charset="0"/>
                <a:cs typeface="Times New Roman" panose="02020603050405020304" pitchFamily="18" charset="0"/>
              </a:rPr>
              <a:t> class to detect anomalies in sequences read from files inside the predicting folder. All the previously explained classes—CSV file reading (using </a:t>
            </a:r>
            <a:r>
              <a:rPr lang="en-US" sz="2000" dirty="0" err="1">
                <a:latin typeface="Times New Roman" panose="02020603050405020304" pitchFamily="18" charset="0"/>
                <a:cs typeface="Times New Roman" panose="02020603050405020304" pitchFamily="18" charset="0"/>
              </a:rPr>
              <a:t>CsvSequenceFolder</a:t>
            </a:r>
            <a:r>
              <a:rPr lang="en-US" sz="2000" dirty="0">
                <a:latin typeface="Times New Roman" panose="02020603050405020304" pitchFamily="18" charset="0"/>
                <a:cs typeface="Times New Roman" panose="02020603050405020304" pitchFamily="18" charset="0"/>
              </a:rPr>
              <a:t>), combining and converting them for HTM training (using </a:t>
            </a:r>
            <a:r>
              <a:rPr lang="en-US" sz="2000" dirty="0" err="1">
                <a:latin typeface="Times New Roman" panose="02020603050405020304" pitchFamily="18" charset="0"/>
                <a:cs typeface="Times New Roman" panose="02020603050405020304" pitchFamily="18" charset="0"/>
              </a:rPr>
              <a:t>CSVToHTMInputConverter</a:t>
            </a:r>
            <a:r>
              <a:rPr lang="en-US" sz="2000" dirty="0">
                <a:latin typeface="Times New Roman" panose="02020603050405020304" pitchFamily="18" charset="0"/>
                <a:cs typeface="Times New Roman" panose="02020603050405020304" pitchFamily="18" charset="0"/>
              </a:rPr>
              <a:t>), and training the HTM engine (via </a:t>
            </a:r>
            <a:r>
              <a:rPr lang="en-US" sz="2000" dirty="0" err="1">
                <a:latin typeface="Times New Roman" panose="02020603050405020304" pitchFamily="18" charset="0"/>
                <a:cs typeface="Times New Roman" panose="02020603050405020304" pitchFamily="18" charset="0"/>
              </a:rPr>
              <a:t>HTMTrainingManager</a:t>
            </a:r>
            <a:r>
              <a:rPr lang="en-US" sz="2000" dirty="0">
                <a:latin typeface="Times New Roman" panose="02020603050405020304" pitchFamily="18" charset="0"/>
                <a:cs typeface="Times New Roman" panose="02020603050405020304" pitchFamily="18" charset="0"/>
              </a:rPr>
              <a:t>)—are utilized here. The same </a:t>
            </a:r>
            <a:r>
              <a:rPr lang="en-US" sz="2000" dirty="0" err="1">
                <a:latin typeface="Times New Roman" panose="02020603050405020304" pitchFamily="18" charset="0"/>
                <a:cs typeface="Times New Roman" panose="02020603050405020304" pitchFamily="18" charset="0"/>
              </a:rPr>
              <a:t>CsvSequenceFolder</a:t>
            </a:r>
            <a:r>
              <a:rPr lang="en-US" sz="2000" dirty="0">
                <a:latin typeface="Times New Roman" panose="02020603050405020304" pitchFamily="18" charset="0"/>
                <a:cs typeface="Times New Roman" panose="02020603050405020304" pitchFamily="18" charset="0"/>
              </a:rPr>
              <a:t> class is used to read files for the predicting sequences. The </a:t>
            </a:r>
            <a:r>
              <a:rPr lang="en-US" sz="2000" dirty="0" err="1">
                <a:latin typeface="Times New Roman" panose="02020603050405020304" pitchFamily="18" charset="0"/>
                <a:cs typeface="Times New Roman" panose="02020603050405020304" pitchFamily="18" charset="0"/>
              </a:rPr>
              <a:t>TrimSequences</a:t>
            </a:r>
            <a:r>
              <a:rPr lang="en-US" sz="2000" dirty="0">
                <a:latin typeface="Times New Roman" panose="02020603050405020304" pitchFamily="18" charset="0"/>
                <a:cs typeface="Times New Roman" panose="02020603050405020304" pitchFamily="18" charset="0"/>
              </a:rPr>
              <a:t> method is then applied to trim sequences for anomaly testing, as explained earlier.</a:t>
            </a:r>
          </a:p>
          <a:p>
            <a:endParaRPr lang="de-DE" dirty="0"/>
          </a:p>
        </p:txBody>
      </p:sp>
      <p:sp>
        <p:nvSpPr>
          <p:cNvPr id="4" name="Footer Placeholder 3">
            <a:extLst>
              <a:ext uri="{FF2B5EF4-FFF2-40B4-BE49-F238E27FC236}">
                <a16:creationId xmlns:a16="http://schemas.microsoft.com/office/drawing/2014/main" id="{3210599A-E6BA-5254-9A47-2D3ACE2814C2}"/>
              </a:ext>
            </a:extLst>
          </p:cNvPr>
          <p:cNvSpPr>
            <a:spLocks noGrp="1"/>
          </p:cNvSpPr>
          <p:nvPr>
            <p:ph type="ftr" sz="quarter" idx="11"/>
          </p:nvPr>
        </p:nvSpPr>
        <p:spPr/>
        <p:txBody>
          <a:bodyPr/>
          <a:lstStyle/>
          <a:p>
            <a:r>
              <a:rPr lang="en-US"/>
              <a:t>All Rights Reserved by Simply-Coders 2024</a:t>
            </a:r>
          </a:p>
        </p:txBody>
      </p:sp>
      <p:pic>
        <p:nvPicPr>
          <p:cNvPr id="6" name="Picture 5">
            <a:extLst>
              <a:ext uri="{FF2B5EF4-FFF2-40B4-BE49-F238E27FC236}">
                <a16:creationId xmlns:a16="http://schemas.microsoft.com/office/drawing/2014/main" id="{0C76B62D-9A30-1CE6-6F95-DBFFCC1969B7}"/>
              </a:ext>
            </a:extLst>
          </p:cNvPr>
          <p:cNvPicPr>
            <a:picLocks noChangeAspect="1"/>
          </p:cNvPicPr>
          <p:nvPr/>
        </p:nvPicPr>
        <p:blipFill>
          <a:blip r:embed="rId2"/>
          <a:stretch>
            <a:fillRect/>
          </a:stretch>
        </p:blipFill>
        <p:spPr>
          <a:xfrm>
            <a:off x="1184577" y="4209078"/>
            <a:ext cx="7689246" cy="1371719"/>
          </a:xfrm>
          <a:prstGeom prst="rect">
            <a:avLst/>
          </a:prstGeom>
        </p:spPr>
      </p:pic>
      <p:pic>
        <p:nvPicPr>
          <p:cNvPr id="5" name="Picture 4">
            <a:extLst>
              <a:ext uri="{FF2B5EF4-FFF2-40B4-BE49-F238E27FC236}">
                <a16:creationId xmlns:a16="http://schemas.microsoft.com/office/drawing/2014/main" id="{5F335B07-47D1-4970-86C1-1AA05DBE6976}"/>
              </a:ext>
            </a:extLst>
          </p:cNvPr>
          <p:cNvPicPr/>
          <p:nvPr/>
        </p:nvPicPr>
        <p:blipFill>
          <a:blip r:embed="rId3"/>
          <a:stretch>
            <a:fillRect/>
          </a:stretch>
        </p:blipFill>
        <p:spPr>
          <a:xfrm>
            <a:off x="9959926" y="164992"/>
            <a:ext cx="2016370" cy="1062110"/>
          </a:xfrm>
          <a:prstGeom prst="rect">
            <a:avLst/>
          </a:prstGeom>
        </p:spPr>
      </p:pic>
    </p:spTree>
    <p:extLst>
      <p:ext uri="{BB962C8B-B14F-4D97-AF65-F5344CB8AC3E}">
        <p14:creationId xmlns:p14="http://schemas.microsoft.com/office/powerpoint/2010/main" val="1039428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B709B-B495-D50C-C798-1D6187ED7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76DA7-BE1B-4A98-2C8D-109A52585178}"/>
              </a:ext>
            </a:extLst>
          </p:cNvPr>
          <p:cNvSpPr>
            <a:spLocks noGrp="1"/>
          </p:cNvSpPr>
          <p:nvPr>
            <p:ph type="title"/>
          </p:nvPr>
        </p:nvSpPr>
        <p:spPr/>
        <p:txBody>
          <a:bodyPr/>
          <a:lstStyle/>
          <a:p>
            <a:pPr algn="l"/>
            <a:r>
              <a:rPr lang="en-US" b="1" i="0" dirty="0">
                <a:solidFill>
                  <a:srgbClr val="1F2328"/>
                </a:solidFill>
                <a:effectLst/>
                <a:latin typeface="-apple-system"/>
              </a:rPr>
              <a:t>Execution of the project (Cont.)</a:t>
            </a:r>
          </a:p>
        </p:txBody>
      </p:sp>
      <p:sp>
        <p:nvSpPr>
          <p:cNvPr id="4" name="Footer Placeholder 3">
            <a:extLst>
              <a:ext uri="{FF2B5EF4-FFF2-40B4-BE49-F238E27FC236}">
                <a16:creationId xmlns:a16="http://schemas.microsoft.com/office/drawing/2014/main" id="{1610CD8F-7C89-3BE8-2B15-CF42ECC62B2C}"/>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C58126BB-45F6-C650-69C6-732DA893BFDF}"/>
              </a:ext>
            </a:extLst>
          </p:cNvPr>
          <p:cNvPicPr/>
          <p:nvPr/>
        </p:nvPicPr>
        <p:blipFill>
          <a:blip r:embed="rId2"/>
          <a:stretch>
            <a:fillRect/>
          </a:stretch>
        </p:blipFill>
        <p:spPr>
          <a:xfrm>
            <a:off x="9959926" y="164992"/>
            <a:ext cx="2016370" cy="1062110"/>
          </a:xfrm>
          <a:prstGeom prst="rect">
            <a:avLst/>
          </a:prstGeom>
        </p:spPr>
      </p:pic>
      <p:sp>
        <p:nvSpPr>
          <p:cNvPr id="8" name="Content Placeholder 7">
            <a:extLst>
              <a:ext uri="{FF2B5EF4-FFF2-40B4-BE49-F238E27FC236}">
                <a16:creationId xmlns:a16="http://schemas.microsoft.com/office/drawing/2014/main" id="{3D828084-B069-DC4B-BCB4-27B79C07632F}"/>
              </a:ext>
            </a:extLst>
          </p:cNvPr>
          <p:cNvSpPr>
            <a:spLocks noGrp="1"/>
          </p:cNvSpPr>
          <p:nvPr>
            <p:ph idx="1"/>
          </p:nvPr>
        </p:nvSpPr>
        <p:spPr>
          <a:xfrm>
            <a:off x="838200" y="1825625"/>
            <a:ext cx="11258725" cy="4351338"/>
          </a:xfrm>
        </p:spPr>
        <p:txBody>
          <a:bodyPr>
            <a:normAutofit/>
          </a:bodyPr>
          <a:lstStyle/>
          <a:p>
            <a:pPr algn="just"/>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DetectAnomaly</a:t>
            </a:r>
            <a:r>
              <a:rPr lang="en-US" sz="2000" dirty="0">
                <a:latin typeface="Times New Roman" panose="02020603050405020304" pitchFamily="18" charset="0"/>
                <a:cs typeface="Times New Roman" panose="02020603050405020304" pitchFamily="18" charset="0"/>
              </a:rPr>
              <a:t> method, which is the main method of the </a:t>
            </a:r>
            <a:r>
              <a:rPr lang="en-US" sz="2000" dirty="0" err="1">
                <a:latin typeface="Times New Roman" panose="02020603050405020304" pitchFamily="18" charset="0"/>
                <a:cs typeface="Times New Roman" panose="02020603050405020304" pitchFamily="18" charset="0"/>
              </a:rPr>
              <a:t>ExtractSequencesFromFolder</a:t>
            </a:r>
            <a:r>
              <a:rPr lang="en-US" sz="2000" dirty="0">
                <a:latin typeface="Times New Roman" panose="02020603050405020304" pitchFamily="18" charset="0"/>
                <a:cs typeface="Times New Roman" panose="02020603050405020304" pitchFamily="18" charset="0"/>
              </a:rPr>
              <a:t> class, detects anomalies in our data. It traverses each value in the list one by one in a sliding window manner, using the trained model predictor to predict the next element for comparison. An anomaly score is used to quantify the comparison, and if the prediction exceeds a certain tolerance level, it is flagged as an anomaly.</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We can obtain our prediction in a list of results in the format of NeoCortexApi.Classifiers.ClassifierResult1[</a:t>
            </a:r>
            <a:r>
              <a:rPr lang="en-US" sz="2000" dirty="0" err="1">
                <a:latin typeface="Times New Roman" panose="02020603050405020304" pitchFamily="18" charset="0"/>
                <a:cs typeface="Times New Roman" panose="02020603050405020304" pitchFamily="18" charset="0"/>
              </a:rPr>
              <a:t>System.String</a:t>
            </a:r>
            <a:r>
              <a:rPr lang="en-US" sz="2000" dirty="0">
                <a:latin typeface="Times New Roman" panose="02020603050405020304" pitchFamily="18" charset="0"/>
                <a:cs typeface="Times New Roman" panose="02020603050405020304" pitchFamily="18" charset="0"/>
              </a:rPr>
              <a:t>]` from our trained model predictor using the following method:</a:t>
            </a:r>
          </a:p>
          <a:p>
            <a:pPr algn="just"/>
            <a:endParaRPr lang="en-US" sz="2000" dirty="0"/>
          </a:p>
          <a:p>
            <a:pPr algn="just"/>
            <a:endParaRPr lang="en-US" sz="2000" dirty="0"/>
          </a:p>
          <a:p>
            <a:pPr algn="just"/>
            <a:endParaRPr lang="en-US" sz="2000" dirty="0"/>
          </a:p>
          <a:p>
            <a:pPr marL="0" indent="0" algn="just">
              <a:buNone/>
            </a:pPr>
            <a:endParaRPr lang="en-US" sz="2000" dirty="0"/>
          </a:p>
        </p:txBody>
      </p:sp>
      <p:sp>
        <p:nvSpPr>
          <p:cNvPr id="5" name="Rectangle 2">
            <a:extLst>
              <a:ext uri="{FF2B5EF4-FFF2-40B4-BE49-F238E27FC236}">
                <a16:creationId xmlns:a16="http://schemas.microsoft.com/office/drawing/2014/main" id="{4BB2C3CC-3F87-9E9D-B537-6FFFCAA0AF4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58998D97-0F1D-C390-84B1-5AD8C9C61B29}"/>
              </a:ext>
            </a:extLst>
          </p:cNvPr>
          <p:cNvPicPr>
            <a:picLocks noChangeAspect="1"/>
          </p:cNvPicPr>
          <p:nvPr/>
        </p:nvPicPr>
        <p:blipFill>
          <a:blip r:embed="rId3"/>
          <a:stretch>
            <a:fillRect/>
          </a:stretch>
        </p:blipFill>
        <p:spPr>
          <a:xfrm>
            <a:off x="1777497" y="4729280"/>
            <a:ext cx="3215919" cy="403895"/>
          </a:xfrm>
          <a:prstGeom prst="rect">
            <a:avLst/>
          </a:prstGeom>
        </p:spPr>
      </p:pic>
    </p:spTree>
    <p:extLst>
      <p:ext uri="{BB962C8B-B14F-4D97-AF65-F5344CB8AC3E}">
        <p14:creationId xmlns:p14="http://schemas.microsoft.com/office/powerpoint/2010/main" val="836249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66066-3DEF-F383-B346-475473CD0B2F}"/>
              </a:ext>
            </a:extLst>
          </p:cNvPr>
          <p:cNvSpPr>
            <a:spLocks noGrp="1"/>
          </p:cNvSpPr>
          <p:nvPr>
            <p:ph type="title"/>
          </p:nvPr>
        </p:nvSpPr>
        <p:spPr/>
        <p:txBody>
          <a:bodyPr/>
          <a:lstStyle/>
          <a:p>
            <a:r>
              <a:rPr lang="en-US" b="1" i="0" dirty="0">
                <a:solidFill>
                  <a:srgbClr val="1F2328"/>
                </a:solidFill>
                <a:effectLst/>
                <a:latin typeface="-apple-system"/>
              </a:rPr>
              <a:t>Execution of the project (Cont.)</a:t>
            </a:r>
            <a:endParaRPr lang="de-DE" dirty="0"/>
          </a:p>
        </p:txBody>
      </p:sp>
      <p:sp>
        <p:nvSpPr>
          <p:cNvPr id="3" name="Content Placeholder 2">
            <a:extLst>
              <a:ext uri="{FF2B5EF4-FFF2-40B4-BE49-F238E27FC236}">
                <a16:creationId xmlns:a16="http://schemas.microsoft.com/office/drawing/2014/main" id="{B7FD4FC1-EA27-C970-141C-06E93B38389B}"/>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We are using </a:t>
            </a:r>
            <a:r>
              <a:rPr lang="en-US" sz="2000" dirty="0" err="1">
                <a:latin typeface="Times New Roman" panose="02020603050405020304" pitchFamily="18" charset="0"/>
                <a:cs typeface="Times New Roman" panose="02020603050405020304" pitchFamily="18" charset="0"/>
              </a:rPr>
              <a:t>AnomalyScore</a:t>
            </a:r>
            <a:r>
              <a:rPr lang="en-US" sz="2000" dirty="0">
                <a:latin typeface="Times New Roman" panose="02020603050405020304" pitchFamily="18" charset="0"/>
                <a:cs typeface="Times New Roman" panose="02020603050405020304" pitchFamily="18" charset="0"/>
              </a:rPr>
              <a:t>, which is nothing, but the absolute value of the ratio of differences between HTM´s predicted number and actual number. If the ratio exceeds </a:t>
            </a:r>
            <a:r>
              <a:rPr lang="en-US" sz="2000" dirty="0" err="1">
                <a:latin typeface="Times New Roman" panose="02020603050405020304" pitchFamily="18" charset="0"/>
                <a:cs typeface="Times New Roman" panose="02020603050405020304" pitchFamily="18" charset="0"/>
              </a:rPr>
              <a:t>tolerancevalue</a:t>
            </a:r>
            <a:r>
              <a:rPr lang="en-US" sz="2000" dirty="0">
                <a:latin typeface="Times New Roman" panose="02020603050405020304" pitchFamily="18" charset="0"/>
                <a:cs typeface="Times New Roman" panose="02020603050405020304" pitchFamily="18" charset="0"/>
              </a:rPr>
              <a:t>, we mark it as an anomaly, otherwise, it is not. When an anomaly is detected, we skip that element in the list (we did not pass that value to HTM in the loop).</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We use </a:t>
            </a:r>
            <a:r>
              <a:rPr lang="en-US" sz="2000" dirty="0" err="1">
                <a:latin typeface="Times New Roman" panose="02020603050405020304" pitchFamily="18" charset="0"/>
                <a:cs typeface="Times New Roman" panose="02020603050405020304" pitchFamily="18" charset="0"/>
              </a:rPr>
              <a:t>accuracyPerList</a:t>
            </a:r>
            <a:r>
              <a:rPr lang="en-US" sz="2000" dirty="0">
                <a:latin typeface="Times New Roman" panose="02020603050405020304" pitchFamily="18" charset="0"/>
                <a:cs typeface="Times New Roman" panose="02020603050405020304" pitchFamily="18" charset="0"/>
              </a:rPr>
              <a:t> to record accuracy per numerical sequence tested. </a:t>
            </a:r>
            <a:r>
              <a:rPr lang="en-US" sz="2000" dirty="0" err="1">
                <a:latin typeface="Times New Roman" panose="02020603050405020304" pitchFamily="18" charset="0"/>
                <a:cs typeface="Times New Roman" panose="02020603050405020304" pitchFamily="18" charset="0"/>
              </a:rPr>
              <a:t>recordAccuracy</a:t>
            </a:r>
            <a:r>
              <a:rPr lang="en-US" sz="2000" dirty="0">
                <a:latin typeface="Times New Roman" panose="02020603050405020304" pitchFamily="18" charset="0"/>
                <a:cs typeface="Times New Roman" panose="02020603050405020304" pitchFamily="18" charset="0"/>
              </a:rPr>
              <a:t> is collected from inside each loop run, which indicates HTM model´s accuracy. We also add index positions of anomalies to </a:t>
            </a:r>
            <a:r>
              <a:rPr lang="en-US" sz="2000" dirty="0" err="1">
                <a:latin typeface="Times New Roman" panose="02020603050405020304" pitchFamily="18" charset="0"/>
                <a:cs typeface="Times New Roman" panose="02020603050405020304" pitchFamily="18" charset="0"/>
              </a:rPr>
              <a:t>anomalyIndices</a:t>
            </a:r>
            <a:r>
              <a:rPr lang="en-US" sz="2000" dirty="0">
                <a:latin typeface="Times New Roman" panose="02020603050405020304" pitchFamily="18" charset="0"/>
                <a:cs typeface="Times New Roman" panose="02020603050405020304" pitchFamily="18" charset="0"/>
              </a:rPr>
              <a:t>, when we encounter indices of anomalies in loop. </a:t>
            </a:r>
            <a:r>
              <a:rPr lang="en-US" sz="2000" dirty="0" err="1">
                <a:latin typeface="Times New Roman" panose="02020603050405020304" pitchFamily="18" charset="0"/>
                <a:cs typeface="Times New Roman" panose="02020603050405020304" pitchFamily="18" charset="0"/>
              </a:rPr>
              <a:t>totalAccuracy</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listCount</a:t>
            </a:r>
            <a:r>
              <a:rPr lang="en-US" sz="2000" dirty="0">
                <a:latin typeface="Times New Roman" panose="02020603050405020304" pitchFamily="18" charset="0"/>
                <a:cs typeface="Times New Roman" panose="02020603050405020304" pitchFamily="18" charset="0"/>
              </a:rPr>
              <a:t> is used to calculate average accuracy of the whole experiment.</a:t>
            </a:r>
          </a:p>
          <a:p>
            <a:endParaRPr lang="de-DE" dirty="0"/>
          </a:p>
        </p:txBody>
      </p:sp>
      <p:sp>
        <p:nvSpPr>
          <p:cNvPr id="4" name="Footer Placeholder 3">
            <a:extLst>
              <a:ext uri="{FF2B5EF4-FFF2-40B4-BE49-F238E27FC236}">
                <a16:creationId xmlns:a16="http://schemas.microsoft.com/office/drawing/2014/main" id="{124B42E6-595E-06EE-1D74-63B2CCAB8FCC}"/>
              </a:ext>
            </a:extLst>
          </p:cNvPr>
          <p:cNvSpPr>
            <a:spLocks noGrp="1"/>
          </p:cNvSpPr>
          <p:nvPr>
            <p:ph type="ftr" sz="quarter" idx="11"/>
          </p:nvPr>
        </p:nvSpPr>
        <p:spPr/>
        <p:txBody>
          <a:bodyPr/>
          <a:lstStyle/>
          <a:p>
            <a:r>
              <a:rPr lang="en-US"/>
              <a:t>All Rights Reserved by Simply-Coders 2024</a:t>
            </a:r>
          </a:p>
        </p:txBody>
      </p:sp>
      <p:pic>
        <p:nvPicPr>
          <p:cNvPr id="5" name="Picture 4">
            <a:extLst>
              <a:ext uri="{FF2B5EF4-FFF2-40B4-BE49-F238E27FC236}">
                <a16:creationId xmlns:a16="http://schemas.microsoft.com/office/drawing/2014/main" id="{63943A74-534D-B42D-F6D5-D34DD2255AB5}"/>
              </a:ext>
            </a:extLst>
          </p:cNvPr>
          <p:cNvPicPr/>
          <p:nvPr/>
        </p:nvPicPr>
        <p:blipFill>
          <a:blip r:embed="rId2"/>
          <a:stretch>
            <a:fillRect/>
          </a:stretch>
        </p:blipFill>
        <p:spPr>
          <a:xfrm>
            <a:off x="9959926" y="164992"/>
            <a:ext cx="2016370" cy="1062110"/>
          </a:xfrm>
          <a:prstGeom prst="rect">
            <a:avLst/>
          </a:prstGeom>
        </p:spPr>
      </p:pic>
    </p:spTree>
    <p:extLst>
      <p:ext uri="{BB962C8B-B14F-4D97-AF65-F5344CB8AC3E}">
        <p14:creationId xmlns:p14="http://schemas.microsoft.com/office/powerpoint/2010/main" val="3363000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3DCA-3BBE-A055-8305-B6E116C64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DF6E3-C06C-38A1-1D08-CD213D58801A}"/>
              </a:ext>
            </a:extLst>
          </p:cNvPr>
          <p:cNvSpPr>
            <a:spLocks noGrp="1"/>
          </p:cNvSpPr>
          <p:nvPr>
            <p:ph type="title"/>
          </p:nvPr>
        </p:nvSpPr>
        <p:spPr/>
        <p:txBody>
          <a:bodyPr/>
          <a:lstStyle/>
          <a:p>
            <a:pPr algn="l"/>
            <a:r>
              <a:rPr lang="en-US" b="1" i="0" dirty="0">
                <a:solidFill>
                  <a:srgbClr val="1F2328"/>
                </a:solidFill>
                <a:effectLst/>
                <a:latin typeface="-apple-system"/>
              </a:rPr>
              <a:t>Execution of the project (Cont.)</a:t>
            </a:r>
          </a:p>
        </p:txBody>
      </p:sp>
      <p:sp>
        <p:nvSpPr>
          <p:cNvPr id="4" name="Footer Placeholder 3">
            <a:extLst>
              <a:ext uri="{FF2B5EF4-FFF2-40B4-BE49-F238E27FC236}">
                <a16:creationId xmlns:a16="http://schemas.microsoft.com/office/drawing/2014/main" id="{EF4E9964-3B67-3283-8DD9-639A14A5508B}"/>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09F83C5F-2DB7-51C0-846F-E223A8DFCB46}"/>
              </a:ext>
            </a:extLst>
          </p:cNvPr>
          <p:cNvPicPr/>
          <p:nvPr/>
        </p:nvPicPr>
        <p:blipFill>
          <a:blip r:embed="rId2"/>
          <a:stretch>
            <a:fillRect/>
          </a:stretch>
        </p:blipFill>
        <p:spPr>
          <a:xfrm>
            <a:off x="9959926" y="164992"/>
            <a:ext cx="2016370" cy="1062110"/>
          </a:xfrm>
          <a:prstGeom prst="rect">
            <a:avLst/>
          </a:prstGeom>
        </p:spPr>
      </p:pic>
      <p:sp>
        <p:nvSpPr>
          <p:cNvPr id="8" name="Content Placeholder 7">
            <a:extLst>
              <a:ext uri="{FF2B5EF4-FFF2-40B4-BE49-F238E27FC236}">
                <a16:creationId xmlns:a16="http://schemas.microsoft.com/office/drawing/2014/main" id="{21D0BD2B-F7DE-5E03-CBE6-BFA009FB406A}"/>
              </a:ext>
            </a:extLst>
          </p:cNvPr>
          <p:cNvSpPr>
            <a:spLocks noGrp="1"/>
          </p:cNvSpPr>
          <p:nvPr>
            <p:ph idx="1"/>
          </p:nvPr>
        </p:nvSpPr>
        <p:spPr>
          <a:xfrm>
            <a:off x="838200" y="1825625"/>
            <a:ext cx="11258725" cy="4351338"/>
          </a:xfrm>
        </p:spPr>
        <p:txBody>
          <a:bodyPr>
            <a:normAutofit/>
          </a:bodyPr>
          <a:lstStyle/>
          <a:p>
            <a:pPr marL="0" indent="0" algn="just">
              <a:buNone/>
            </a:pPr>
            <a:r>
              <a:rPr lang="en-US" sz="1400" b="0" i="0" dirty="0">
                <a:solidFill>
                  <a:srgbClr val="1F2328"/>
                </a:solidFill>
                <a:effectLst/>
                <a:latin typeface="Times New Roman" panose="02020603050405020304" pitchFamily="18" charset="0"/>
                <a:cs typeface="Times New Roman" panose="02020603050405020304" pitchFamily="18" charset="0"/>
              </a:rPr>
              <a:t>The </a:t>
            </a:r>
            <a:r>
              <a:rPr lang="en-US" sz="1400" b="0" i="0" dirty="0" err="1">
                <a:solidFill>
                  <a:srgbClr val="1F2328"/>
                </a:solidFill>
                <a:effectLst/>
                <a:latin typeface="Times New Roman" panose="02020603050405020304" pitchFamily="18" charset="0"/>
                <a:cs typeface="Times New Roman" panose="02020603050405020304" pitchFamily="18" charset="0"/>
              </a:rPr>
              <a:t>SequenceVisualizer</a:t>
            </a:r>
            <a:r>
              <a:rPr lang="en-US" sz="1400" b="0" i="0" dirty="0">
                <a:solidFill>
                  <a:srgbClr val="1F2328"/>
                </a:solidFill>
                <a:effectLst/>
                <a:latin typeface="Times New Roman" panose="02020603050405020304" pitchFamily="18" charset="0"/>
                <a:cs typeface="Times New Roman" panose="02020603050405020304" pitchFamily="18" charset="0"/>
              </a:rPr>
              <a:t> </a:t>
            </a:r>
            <a:r>
              <a:rPr lang="en-US" sz="1400" b="0" i="0" u="sng" dirty="0">
                <a:effectLst/>
                <a:latin typeface="Times New Roman" panose="02020603050405020304" pitchFamily="18" charset="0"/>
                <a:cs typeface="Times New Roman" panose="02020603050405020304" pitchFamily="18" charset="0"/>
                <a:hlinkClick r:id="rId3"/>
              </a:rPr>
              <a:t>class</a:t>
            </a:r>
            <a:r>
              <a:rPr lang="en-US" sz="1400" b="0" i="0" dirty="0">
                <a:solidFill>
                  <a:srgbClr val="1F2328"/>
                </a:solidFill>
                <a:effectLst/>
                <a:latin typeface="Times New Roman" panose="02020603050405020304" pitchFamily="18" charset="0"/>
                <a:cs typeface="Times New Roman" panose="02020603050405020304" pitchFamily="18" charset="0"/>
              </a:rPr>
              <a:t> is used to plot graphs of sequences of data and their anomalies. This class used to show the visual result for detecting anomalies comparing to training sequences and the predicting sequence.</a:t>
            </a:r>
          </a:p>
          <a:p>
            <a:pPr marL="0" indent="0" algn="just">
              <a:buNone/>
            </a:pPr>
            <a:endParaRPr lang="en-US" sz="1400" dirty="0">
              <a:solidFill>
                <a:srgbClr val="1F2328"/>
              </a:solidFill>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4AE8ECC9-97B7-EAB1-66D8-7064D374B62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5F8F4AF-7ED0-866A-A3EC-ED1F67CD331C}"/>
              </a:ext>
            </a:extLst>
          </p:cNvPr>
          <p:cNvPicPr>
            <a:picLocks noChangeAspect="1"/>
          </p:cNvPicPr>
          <p:nvPr/>
        </p:nvPicPr>
        <p:blipFill>
          <a:blip r:embed="rId4"/>
          <a:stretch>
            <a:fillRect/>
          </a:stretch>
        </p:blipFill>
        <p:spPr>
          <a:xfrm>
            <a:off x="763397" y="2979863"/>
            <a:ext cx="11017541" cy="1662752"/>
          </a:xfrm>
          <a:prstGeom prst="rect">
            <a:avLst/>
          </a:prstGeom>
        </p:spPr>
      </p:pic>
    </p:spTree>
    <p:extLst>
      <p:ext uri="{BB962C8B-B14F-4D97-AF65-F5344CB8AC3E}">
        <p14:creationId xmlns:p14="http://schemas.microsoft.com/office/powerpoint/2010/main" val="3059156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B4E81-0DDD-3711-7F4C-0129EBD0A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8C01F-CCFA-119B-F6D5-33C14272807E}"/>
              </a:ext>
            </a:extLst>
          </p:cNvPr>
          <p:cNvSpPr>
            <a:spLocks noGrp="1"/>
          </p:cNvSpPr>
          <p:nvPr>
            <p:ph type="title"/>
          </p:nvPr>
        </p:nvSpPr>
        <p:spPr/>
        <p:txBody>
          <a:bodyPr/>
          <a:lstStyle/>
          <a:p>
            <a:pPr algn="l"/>
            <a:r>
              <a:rPr lang="en-US" b="1" i="0" dirty="0">
                <a:solidFill>
                  <a:srgbClr val="1F2328"/>
                </a:solidFill>
                <a:effectLst/>
                <a:latin typeface="-apple-system"/>
              </a:rPr>
              <a:t>Unit Test project</a:t>
            </a:r>
          </a:p>
        </p:txBody>
      </p:sp>
      <p:sp>
        <p:nvSpPr>
          <p:cNvPr id="4" name="Footer Placeholder 3">
            <a:extLst>
              <a:ext uri="{FF2B5EF4-FFF2-40B4-BE49-F238E27FC236}">
                <a16:creationId xmlns:a16="http://schemas.microsoft.com/office/drawing/2014/main" id="{A08BA480-58F6-8E8C-AF42-DCAB511A95F5}"/>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78C4C328-2837-FE1E-D1E2-2430D6A45CE3}"/>
              </a:ext>
            </a:extLst>
          </p:cNvPr>
          <p:cNvPicPr/>
          <p:nvPr/>
        </p:nvPicPr>
        <p:blipFill>
          <a:blip r:embed="rId2"/>
          <a:stretch>
            <a:fillRect/>
          </a:stretch>
        </p:blipFill>
        <p:spPr>
          <a:xfrm>
            <a:off x="9959926" y="164992"/>
            <a:ext cx="2016370" cy="1062110"/>
          </a:xfrm>
          <a:prstGeom prst="rect">
            <a:avLst/>
          </a:prstGeom>
        </p:spPr>
      </p:pic>
      <p:sp>
        <p:nvSpPr>
          <p:cNvPr id="8" name="Content Placeholder 7">
            <a:extLst>
              <a:ext uri="{FF2B5EF4-FFF2-40B4-BE49-F238E27FC236}">
                <a16:creationId xmlns:a16="http://schemas.microsoft.com/office/drawing/2014/main" id="{2B159F15-66F5-2AC9-90A0-02D9061DBD2D}"/>
              </a:ext>
            </a:extLst>
          </p:cNvPr>
          <p:cNvSpPr>
            <a:spLocks noGrp="1"/>
          </p:cNvSpPr>
          <p:nvPr>
            <p:ph idx="1"/>
          </p:nvPr>
        </p:nvSpPr>
        <p:spPr>
          <a:xfrm>
            <a:off x="838200" y="1825625"/>
            <a:ext cx="11258725" cy="4351338"/>
          </a:xfrm>
        </p:spPr>
        <p:txBody>
          <a:bodyPr>
            <a:normAutofit/>
          </a:bodyPr>
          <a:lstStyle/>
          <a:p>
            <a:pPr algn="just"/>
            <a:r>
              <a:rPr lang="en-US" sz="2000" dirty="0"/>
              <a:t>We have developed a unit tests project to test different functionality of this anomaly project. During implemented the unit tests, we ensured the behavior of detection of anomalies in the project.</a:t>
            </a:r>
          </a:p>
        </p:txBody>
      </p:sp>
      <p:sp>
        <p:nvSpPr>
          <p:cNvPr id="5" name="Rectangle 2">
            <a:extLst>
              <a:ext uri="{FF2B5EF4-FFF2-40B4-BE49-F238E27FC236}">
                <a16:creationId xmlns:a16="http://schemas.microsoft.com/office/drawing/2014/main" id="{0B03D2F6-2498-93A4-70DE-4502B3C21C9B}"/>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944C261-08A3-E289-0021-4A596A2CC407}"/>
              </a:ext>
            </a:extLst>
          </p:cNvPr>
          <p:cNvPicPr>
            <a:picLocks noChangeAspect="1"/>
          </p:cNvPicPr>
          <p:nvPr/>
        </p:nvPicPr>
        <p:blipFill>
          <a:blip r:embed="rId3"/>
          <a:stretch>
            <a:fillRect/>
          </a:stretch>
        </p:blipFill>
        <p:spPr>
          <a:xfrm>
            <a:off x="2680282" y="2493023"/>
            <a:ext cx="6130588" cy="4228452"/>
          </a:xfrm>
          <a:prstGeom prst="rect">
            <a:avLst/>
          </a:prstGeom>
        </p:spPr>
      </p:pic>
    </p:spTree>
    <p:extLst>
      <p:ext uri="{BB962C8B-B14F-4D97-AF65-F5344CB8AC3E}">
        <p14:creationId xmlns:p14="http://schemas.microsoft.com/office/powerpoint/2010/main" val="2352066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024D3-0994-708A-C5C8-551E3B381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6723E-3F2F-B674-AD76-39CEDF6BE682}"/>
              </a:ext>
            </a:extLst>
          </p:cNvPr>
          <p:cNvSpPr>
            <a:spLocks noGrp="1"/>
          </p:cNvSpPr>
          <p:nvPr>
            <p:ph type="title"/>
          </p:nvPr>
        </p:nvSpPr>
        <p:spPr/>
        <p:txBody>
          <a:bodyPr/>
          <a:lstStyle/>
          <a:p>
            <a:pPr algn="l"/>
            <a:r>
              <a:rPr lang="en-US" b="1" i="0" dirty="0">
                <a:solidFill>
                  <a:srgbClr val="1F2328"/>
                </a:solidFill>
                <a:effectLst/>
                <a:latin typeface="-apple-system"/>
              </a:rPr>
              <a:t>Results</a:t>
            </a:r>
          </a:p>
        </p:txBody>
      </p:sp>
      <p:sp>
        <p:nvSpPr>
          <p:cNvPr id="4" name="Footer Placeholder 3">
            <a:extLst>
              <a:ext uri="{FF2B5EF4-FFF2-40B4-BE49-F238E27FC236}">
                <a16:creationId xmlns:a16="http://schemas.microsoft.com/office/drawing/2014/main" id="{E02D457A-03A7-44AF-AC22-BF3BCE737F62}"/>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42699F62-7AB3-8998-7BD4-EF1CB3ABDA29}"/>
              </a:ext>
            </a:extLst>
          </p:cNvPr>
          <p:cNvPicPr/>
          <p:nvPr/>
        </p:nvPicPr>
        <p:blipFill>
          <a:blip r:embed="rId2"/>
          <a:stretch>
            <a:fillRect/>
          </a:stretch>
        </p:blipFill>
        <p:spPr>
          <a:xfrm>
            <a:off x="9959926" y="164992"/>
            <a:ext cx="2016370" cy="1062110"/>
          </a:xfrm>
          <a:prstGeom prst="rect">
            <a:avLst/>
          </a:prstGeom>
        </p:spPr>
      </p:pic>
      <p:sp>
        <p:nvSpPr>
          <p:cNvPr id="8" name="Content Placeholder 7">
            <a:extLst>
              <a:ext uri="{FF2B5EF4-FFF2-40B4-BE49-F238E27FC236}">
                <a16:creationId xmlns:a16="http://schemas.microsoft.com/office/drawing/2014/main" id="{3F848714-86E2-219F-300C-79BDF6E50AFD}"/>
              </a:ext>
            </a:extLst>
          </p:cNvPr>
          <p:cNvSpPr>
            <a:spLocks noGrp="1"/>
          </p:cNvSpPr>
          <p:nvPr>
            <p:ph idx="1"/>
          </p:nvPr>
        </p:nvSpPr>
        <p:spPr>
          <a:xfrm>
            <a:off x="838200" y="1825625"/>
            <a:ext cx="11258725" cy="4351338"/>
          </a:xfrm>
        </p:spPr>
        <p:txBody>
          <a:bodyPr>
            <a:normAutofit/>
          </a:bodyPr>
          <a:lstStyle/>
          <a:p>
            <a:pPr marL="0" indent="0" algn="just">
              <a:buNone/>
            </a:pPr>
            <a:r>
              <a:rPr lang="en-US" sz="1400" b="0" i="0" dirty="0">
                <a:solidFill>
                  <a:srgbClr val="1F2328"/>
                </a:solidFill>
                <a:effectLst/>
                <a:latin typeface="Times New Roman" panose="02020603050405020304" pitchFamily="18" charset="0"/>
                <a:cs typeface="Times New Roman" panose="02020603050405020304" pitchFamily="18" charset="0"/>
              </a:rPr>
              <a:t>Once the experiment concludes, the anomaly detection results are persisted to the screen, along with HTM accuracy for each individual number sequences and overall HTM accuracy for the whole experiment. We have uploaded the anomaly results of our data in this repository for reference. output result of combined numerical sequence data from training folder (without anomalies) and predicting folder (with anomalies) can be found in the output folder as well.</a:t>
            </a:r>
          </a:p>
          <a:p>
            <a:pPr marL="0" indent="0" algn="just">
              <a:buNone/>
            </a:pPr>
            <a:endParaRPr lang="en-US" sz="1400" dirty="0">
              <a:solidFill>
                <a:srgbClr val="1F2328"/>
              </a:solidFill>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B293BCB4-69E6-B229-DF0F-30ACE0B3E246}"/>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BF263B38-F27C-CD1F-6B55-00C9DF70345F}"/>
              </a:ext>
            </a:extLst>
          </p:cNvPr>
          <p:cNvPicPr>
            <a:picLocks noChangeAspect="1"/>
          </p:cNvPicPr>
          <p:nvPr/>
        </p:nvPicPr>
        <p:blipFill>
          <a:blip r:embed="rId3"/>
          <a:stretch>
            <a:fillRect/>
          </a:stretch>
        </p:blipFill>
        <p:spPr>
          <a:xfrm>
            <a:off x="2926436" y="2590942"/>
            <a:ext cx="5226964" cy="3444937"/>
          </a:xfrm>
          <a:prstGeom prst="rect">
            <a:avLst/>
          </a:prstGeom>
        </p:spPr>
      </p:pic>
    </p:spTree>
    <p:extLst>
      <p:ext uri="{BB962C8B-B14F-4D97-AF65-F5344CB8AC3E}">
        <p14:creationId xmlns:p14="http://schemas.microsoft.com/office/powerpoint/2010/main" val="845682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95CFE-3417-1249-9733-AE13EFFE4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0FCFD-0B4B-A7A9-9D21-2B9FC727A6C0}"/>
              </a:ext>
            </a:extLst>
          </p:cNvPr>
          <p:cNvSpPr>
            <a:spLocks noGrp="1"/>
          </p:cNvSpPr>
          <p:nvPr>
            <p:ph type="title"/>
          </p:nvPr>
        </p:nvSpPr>
        <p:spPr/>
        <p:txBody>
          <a:bodyPr/>
          <a:lstStyle/>
          <a:p>
            <a:pPr algn="l"/>
            <a:r>
              <a:rPr lang="en-US" b="1" i="0" dirty="0">
                <a:solidFill>
                  <a:srgbClr val="1F2328"/>
                </a:solidFill>
                <a:effectLst/>
                <a:latin typeface="-apple-system"/>
              </a:rPr>
              <a:t>Graphical Results</a:t>
            </a:r>
          </a:p>
        </p:txBody>
      </p:sp>
      <p:sp>
        <p:nvSpPr>
          <p:cNvPr id="4" name="Footer Placeholder 3">
            <a:extLst>
              <a:ext uri="{FF2B5EF4-FFF2-40B4-BE49-F238E27FC236}">
                <a16:creationId xmlns:a16="http://schemas.microsoft.com/office/drawing/2014/main" id="{D69364E0-2709-2815-4C9C-4437F1EE657F}"/>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B21FE011-69A5-D177-6D3D-71479A87ABB4}"/>
              </a:ext>
            </a:extLst>
          </p:cNvPr>
          <p:cNvPicPr/>
          <p:nvPr/>
        </p:nvPicPr>
        <p:blipFill>
          <a:blip r:embed="rId2"/>
          <a:stretch>
            <a:fillRect/>
          </a:stretch>
        </p:blipFill>
        <p:spPr>
          <a:xfrm>
            <a:off x="9959926" y="164992"/>
            <a:ext cx="2016370" cy="1062110"/>
          </a:xfrm>
          <a:prstGeom prst="rect">
            <a:avLst/>
          </a:prstGeom>
        </p:spPr>
      </p:pic>
      <p:sp>
        <p:nvSpPr>
          <p:cNvPr id="8" name="Content Placeholder 7">
            <a:extLst>
              <a:ext uri="{FF2B5EF4-FFF2-40B4-BE49-F238E27FC236}">
                <a16:creationId xmlns:a16="http://schemas.microsoft.com/office/drawing/2014/main" id="{FC79443A-9042-140E-2AEE-19FA5DEE61C5}"/>
              </a:ext>
            </a:extLst>
          </p:cNvPr>
          <p:cNvSpPr>
            <a:spLocks noGrp="1"/>
          </p:cNvSpPr>
          <p:nvPr>
            <p:ph idx="1"/>
          </p:nvPr>
        </p:nvSpPr>
        <p:spPr>
          <a:xfrm>
            <a:off x="838200" y="1825625"/>
            <a:ext cx="11258725" cy="4351338"/>
          </a:xfrm>
        </p:spPr>
        <p:txBody>
          <a:bodyPr>
            <a:normAutofit/>
          </a:bodyPr>
          <a:lstStyle/>
          <a:p>
            <a:pPr>
              <a:buNone/>
            </a:pPr>
            <a:r>
              <a:rPr lang="en-US" sz="1200" b="0" i="0" dirty="0">
                <a:solidFill>
                  <a:srgbClr val="1F2328"/>
                </a:solidFill>
                <a:effectLst/>
                <a:latin typeface="Times New Roman" panose="02020603050405020304" pitchFamily="18" charset="0"/>
                <a:cs typeface="Times New Roman" panose="02020603050405020304" pitchFamily="18" charset="0"/>
              </a:rPr>
              <a:t>We shown the graphical view of the training and predicting sequences along with anomalies. After successfully running the projects, we are generating the plots in html format in the browser as well </a:t>
            </a:r>
            <a:r>
              <a:rPr lang="en-US" sz="1200" dirty="0">
                <a:solidFill>
                  <a:srgbClr val="1F2328"/>
                </a:solidFill>
                <a:latin typeface="Times New Roman" panose="02020603050405020304" pitchFamily="18" charset="0"/>
                <a:cs typeface="Times New Roman" panose="02020603050405020304" pitchFamily="18" charset="0"/>
              </a:rPr>
              <a:t>as </a:t>
            </a:r>
            <a:r>
              <a:rPr lang="en-US" sz="1200" b="0" i="0" dirty="0">
                <a:solidFill>
                  <a:srgbClr val="1F2328"/>
                </a:solidFill>
                <a:effectLst/>
                <a:latin typeface="Times New Roman" panose="02020603050405020304" pitchFamily="18" charset="0"/>
                <a:cs typeface="Times New Roman" panose="02020603050405020304" pitchFamily="18" charset="0"/>
              </a:rPr>
              <a:t>saving the files in the output graph </a:t>
            </a:r>
            <a:r>
              <a:rPr lang="en-US" sz="1200" b="0" i="0" u="sng" dirty="0">
                <a:solidFill>
                  <a:srgbClr val="1F2328"/>
                </a:solidFill>
                <a:effectLst/>
                <a:latin typeface="Times New Roman" panose="02020603050405020304" pitchFamily="18" charset="0"/>
                <a:cs typeface="Times New Roman" panose="02020603050405020304" pitchFamily="18" charset="0"/>
                <a:hlinkClick r:id="rId3"/>
              </a:rPr>
              <a:t>folder</a:t>
            </a:r>
            <a:r>
              <a:rPr lang="en-US" sz="1200" b="0" i="0" dirty="0">
                <a:solidFill>
                  <a:srgbClr val="1F2328"/>
                </a:solidFill>
                <a:effectLst/>
                <a:latin typeface="Times New Roman" panose="02020603050405020304" pitchFamily="18" charset="0"/>
                <a:cs typeface="Times New Roman" panose="02020603050405020304" pitchFamily="18" charset="0"/>
              </a:rPr>
              <a:t>. We generated 2 kind of plots</a:t>
            </a:r>
          </a:p>
          <a:p>
            <a:pPr marL="0" indent="0" algn="l">
              <a:buNone/>
            </a:pPr>
            <a:r>
              <a:rPr lang="en-US" sz="1200" b="1" i="0" dirty="0">
                <a:solidFill>
                  <a:srgbClr val="1F2328"/>
                </a:solidFill>
                <a:effectLst/>
                <a:latin typeface="Times New Roman" panose="02020603050405020304" pitchFamily="18" charset="0"/>
                <a:cs typeface="Times New Roman" panose="02020603050405020304" pitchFamily="18" charset="0"/>
              </a:rPr>
              <a:t>Training and predicting sequence plot</a:t>
            </a:r>
          </a:p>
          <a:p>
            <a:pPr marL="0" indent="0" algn="l">
              <a:buNone/>
            </a:pPr>
            <a:endParaRPr lang="en-US" sz="1200" b="1" dirty="0">
              <a:solidFill>
                <a:srgbClr val="1F2328"/>
              </a:solidFill>
              <a:latin typeface="Times New Roman" panose="02020603050405020304" pitchFamily="18" charset="0"/>
              <a:cs typeface="Times New Roman" panose="02020603050405020304" pitchFamily="18" charset="0"/>
            </a:endParaRPr>
          </a:p>
          <a:p>
            <a:pPr marL="0" indent="0" algn="l">
              <a:buNone/>
            </a:pPr>
            <a:endParaRPr lang="en-US" sz="1200" b="1" i="0" dirty="0">
              <a:solidFill>
                <a:srgbClr val="1F2328"/>
              </a:solidFill>
              <a:effectLst/>
              <a:latin typeface="Times New Roman" panose="02020603050405020304" pitchFamily="18" charset="0"/>
              <a:cs typeface="Times New Roman" panose="02020603050405020304" pitchFamily="18" charset="0"/>
            </a:endParaRPr>
          </a:p>
          <a:p>
            <a:pPr marL="0" indent="0" algn="just">
              <a:buNone/>
            </a:pPr>
            <a:endParaRPr lang="en-US" sz="1400" dirty="0">
              <a:solidFill>
                <a:srgbClr val="1F2328"/>
              </a:solidFill>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4D9F9F8-3F40-BA7B-41CB-9F0482EBC6A6}"/>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D911C4D-DE63-9292-1A85-036FFA9F5861}"/>
              </a:ext>
            </a:extLst>
          </p:cNvPr>
          <p:cNvPicPr>
            <a:picLocks noChangeAspect="1"/>
          </p:cNvPicPr>
          <p:nvPr/>
        </p:nvPicPr>
        <p:blipFill>
          <a:blip r:embed="rId4"/>
          <a:stretch>
            <a:fillRect/>
          </a:stretch>
        </p:blipFill>
        <p:spPr>
          <a:xfrm>
            <a:off x="1560352" y="2553114"/>
            <a:ext cx="7102169" cy="4103549"/>
          </a:xfrm>
          <a:prstGeom prst="rect">
            <a:avLst/>
          </a:prstGeom>
        </p:spPr>
      </p:pic>
    </p:spTree>
    <p:extLst>
      <p:ext uri="{BB962C8B-B14F-4D97-AF65-F5344CB8AC3E}">
        <p14:creationId xmlns:p14="http://schemas.microsoft.com/office/powerpoint/2010/main" val="354738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03445-82F4-80CB-01A1-37722B974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86AD5-4D97-9387-DED2-864F6BC5A793}"/>
              </a:ext>
            </a:extLst>
          </p:cNvPr>
          <p:cNvSpPr>
            <a:spLocks noGrp="1"/>
          </p:cNvSpPr>
          <p:nvPr>
            <p:ph type="title"/>
          </p:nvPr>
        </p:nvSpPr>
        <p:spPr/>
        <p:txBody>
          <a:bodyPr/>
          <a:lstStyle/>
          <a:p>
            <a:pPr algn="l"/>
            <a:r>
              <a:rPr lang="en-US" b="1" i="0" dirty="0">
                <a:solidFill>
                  <a:srgbClr val="1F2328"/>
                </a:solidFill>
                <a:effectLst/>
                <a:latin typeface="-apple-system"/>
              </a:rPr>
              <a:t>Graphical Results</a:t>
            </a:r>
          </a:p>
        </p:txBody>
      </p:sp>
      <p:sp>
        <p:nvSpPr>
          <p:cNvPr id="4" name="Footer Placeholder 3">
            <a:extLst>
              <a:ext uri="{FF2B5EF4-FFF2-40B4-BE49-F238E27FC236}">
                <a16:creationId xmlns:a16="http://schemas.microsoft.com/office/drawing/2014/main" id="{75E2D146-624A-7A4C-CEED-5B9065C4D03E}"/>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BF93D126-2AC0-C6C8-755E-8ADF70FD64F3}"/>
              </a:ext>
            </a:extLst>
          </p:cNvPr>
          <p:cNvPicPr/>
          <p:nvPr/>
        </p:nvPicPr>
        <p:blipFill>
          <a:blip r:embed="rId2"/>
          <a:stretch>
            <a:fillRect/>
          </a:stretch>
        </p:blipFill>
        <p:spPr>
          <a:xfrm>
            <a:off x="9959926" y="164992"/>
            <a:ext cx="2016370" cy="1062110"/>
          </a:xfrm>
          <a:prstGeom prst="rect">
            <a:avLst/>
          </a:prstGeom>
        </p:spPr>
      </p:pic>
      <p:sp>
        <p:nvSpPr>
          <p:cNvPr id="8" name="Content Placeholder 7">
            <a:extLst>
              <a:ext uri="{FF2B5EF4-FFF2-40B4-BE49-F238E27FC236}">
                <a16:creationId xmlns:a16="http://schemas.microsoft.com/office/drawing/2014/main" id="{E2DD7A9B-3182-05ED-B39B-41D55BBFF7E5}"/>
              </a:ext>
            </a:extLst>
          </p:cNvPr>
          <p:cNvSpPr>
            <a:spLocks noGrp="1"/>
          </p:cNvSpPr>
          <p:nvPr>
            <p:ph idx="1"/>
          </p:nvPr>
        </p:nvSpPr>
        <p:spPr>
          <a:xfrm>
            <a:off x="838200" y="1556657"/>
            <a:ext cx="11258725" cy="4620306"/>
          </a:xfrm>
        </p:spPr>
        <p:txBody>
          <a:bodyPr>
            <a:normAutofit/>
          </a:bodyPr>
          <a:lstStyle/>
          <a:p>
            <a:pPr marL="0" indent="0" algn="l">
              <a:buNone/>
            </a:pPr>
            <a:r>
              <a:rPr lang="en-US" sz="1200" b="1" i="0" dirty="0">
                <a:solidFill>
                  <a:srgbClr val="1F2328"/>
                </a:solidFill>
                <a:effectLst/>
                <a:latin typeface="Times New Roman" panose="02020603050405020304" pitchFamily="18" charset="0"/>
                <a:cs typeface="Times New Roman" panose="02020603050405020304" pitchFamily="18" charset="0"/>
              </a:rPr>
              <a:t>Training and predicting sequence with anomalies plot</a:t>
            </a:r>
            <a:endParaRPr lang="en-US" sz="1200" b="1" dirty="0">
              <a:solidFill>
                <a:srgbClr val="1F2328"/>
              </a:solidFill>
              <a:latin typeface="Times New Roman" panose="02020603050405020304" pitchFamily="18" charset="0"/>
              <a:cs typeface="Times New Roman" panose="02020603050405020304" pitchFamily="18" charset="0"/>
            </a:endParaRPr>
          </a:p>
          <a:p>
            <a:pPr marL="0" indent="0" algn="l">
              <a:buNone/>
            </a:pPr>
            <a:endParaRPr lang="en-US" sz="1200" b="1" i="0" dirty="0">
              <a:solidFill>
                <a:srgbClr val="1F2328"/>
              </a:solidFill>
              <a:effectLst/>
              <a:latin typeface="Times New Roman" panose="02020603050405020304" pitchFamily="18" charset="0"/>
              <a:cs typeface="Times New Roman" panose="02020603050405020304" pitchFamily="18" charset="0"/>
            </a:endParaRPr>
          </a:p>
          <a:p>
            <a:pPr marL="0" indent="0" algn="just">
              <a:buNone/>
            </a:pPr>
            <a:endParaRPr lang="en-US" sz="1400" dirty="0">
              <a:solidFill>
                <a:srgbClr val="1F2328"/>
              </a:solidFill>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BBDC403B-E130-76AA-477E-29DB27F344C4}"/>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F02AB01A-225C-357B-F17F-CD466B83A88B}"/>
              </a:ext>
            </a:extLst>
          </p:cNvPr>
          <p:cNvPicPr>
            <a:picLocks noChangeAspect="1"/>
          </p:cNvPicPr>
          <p:nvPr/>
        </p:nvPicPr>
        <p:blipFill>
          <a:blip r:embed="rId3"/>
          <a:stretch>
            <a:fillRect/>
          </a:stretch>
        </p:blipFill>
        <p:spPr>
          <a:xfrm>
            <a:off x="2086961" y="1910067"/>
            <a:ext cx="7269527" cy="4266896"/>
          </a:xfrm>
          <a:prstGeom prst="rect">
            <a:avLst/>
          </a:prstGeom>
        </p:spPr>
      </p:pic>
    </p:spTree>
    <p:extLst>
      <p:ext uri="{BB962C8B-B14F-4D97-AF65-F5344CB8AC3E}">
        <p14:creationId xmlns:p14="http://schemas.microsoft.com/office/powerpoint/2010/main" val="1893134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26D3-6553-4FE2-9420-BA96A67E107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4" name="Footer Placeholder 3">
            <a:extLst>
              <a:ext uri="{FF2B5EF4-FFF2-40B4-BE49-F238E27FC236}">
                <a16:creationId xmlns:a16="http://schemas.microsoft.com/office/drawing/2014/main" id="{106B4A97-6378-40AA-80BD-55D20B6AB661}"/>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FEF278C5-13AE-4022-A121-0DE4282D2FDA}"/>
              </a:ext>
            </a:extLst>
          </p:cNvPr>
          <p:cNvPicPr/>
          <p:nvPr/>
        </p:nvPicPr>
        <p:blipFill>
          <a:blip r:embed="rId2"/>
          <a:stretch>
            <a:fillRect/>
          </a:stretch>
        </p:blipFill>
        <p:spPr>
          <a:xfrm>
            <a:off x="9959926" y="164992"/>
            <a:ext cx="2016370" cy="1062110"/>
          </a:xfrm>
          <a:prstGeom prst="rect">
            <a:avLst/>
          </a:prstGeom>
        </p:spPr>
      </p:pic>
      <p:sp>
        <p:nvSpPr>
          <p:cNvPr id="11" name="Content Placeholder 10">
            <a:extLst>
              <a:ext uri="{FF2B5EF4-FFF2-40B4-BE49-F238E27FC236}">
                <a16:creationId xmlns:a16="http://schemas.microsoft.com/office/drawing/2014/main" id="{920F3FFC-FD9A-4EF2-9780-0439F028B1F0}"/>
              </a:ext>
            </a:extLst>
          </p:cNvPr>
          <p:cNvSpPr>
            <a:spLocks noGrp="1"/>
          </p:cNvSpPr>
          <p:nvPr>
            <p:ph idx="1"/>
          </p:nvPr>
        </p:nvSpPr>
        <p:spPr>
          <a:xfrm>
            <a:off x="1041009" y="1690688"/>
            <a:ext cx="10312791" cy="4665662"/>
          </a:xfrm>
        </p:spPr>
        <p:txBody>
          <a:bodyPr>
            <a:normAutofit fontScale="85000" lnSpcReduction="20000"/>
          </a:bodyPr>
          <a:lstStyle/>
          <a:p>
            <a:pPr lvl="0" algn="ctr" fontAlgn="base"/>
            <a:r>
              <a:rPr lang="en-US" dirty="0">
                <a:latin typeface="Times New Roman" panose="02020603050405020304" pitchFamily="18" charset="0"/>
                <a:cs typeface="Times New Roman" panose="02020603050405020304" pitchFamily="18" charset="0"/>
              </a:rPr>
              <a:t>Average FNR of the experiment: </a:t>
            </a:r>
            <a:r>
              <a:rPr lang="en-US" sz="2800" dirty="0">
                <a:latin typeface="Times New Roman" panose="02020603050405020304" pitchFamily="18" charset="0"/>
                <a:cs typeface="Times New Roman" panose="02020603050405020304" pitchFamily="18" charset="0"/>
              </a:rPr>
              <a:t>0.22</a:t>
            </a:r>
            <a:endParaRPr lang="en-US" dirty="0">
              <a:latin typeface="Times New Roman" panose="02020603050405020304" pitchFamily="18" charset="0"/>
              <a:cs typeface="Times New Roman" panose="02020603050405020304" pitchFamily="18" charset="0"/>
            </a:endParaRPr>
          </a:p>
          <a:p>
            <a:pPr lvl="0" algn="ctr" fontAlgn="base"/>
            <a:r>
              <a:rPr lang="en-US" dirty="0">
                <a:latin typeface="Times New Roman" panose="02020603050405020304" pitchFamily="18" charset="0"/>
                <a:cs typeface="Times New Roman" panose="02020603050405020304" pitchFamily="18" charset="0"/>
              </a:rPr>
              <a:t>Average FPR of the experiment: 0.28</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We found Anomaly detection results for Testing the sequence: 30, 18, 42, 19, 79, 20, 44, 16, 25, 17</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FNR = FN / (FN + TP) = 0/ (0+2) = 0 FPR = FP / (FP + TN) = 2/ (2+5) = 0.29 Where, FN = 0, FP = 2, TN = 5, TP = 2.</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After running our sample project, we analyzed the output folder of this experiment and got the following average results: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We can observe that the False Negative Rate(FNR) is in our output (0.22). It is desired that the false negative rate should be as lower as possible in an anomaly detection program. Lower false positive rate is also desirable, but not absolutely essential.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63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040EF-D6FD-C189-09CF-8CDB39583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D51F7-DC9F-6EAF-9237-A40590F5799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4" name="Footer Placeholder 3">
            <a:extLst>
              <a:ext uri="{FF2B5EF4-FFF2-40B4-BE49-F238E27FC236}">
                <a16:creationId xmlns:a16="http://schemas.microsoft.com/office/drawing/2014/main" id="{1EADA757-A17C-22F2-62EB-1FDE13E86AE1}"/>
              </a:ext>
            </a:extLst>
          </p:cNvPr>
          <p:cNvSpPr>
            <a:spLocks noGrp="1"/>
          </p:cNvSpPr>
          <p:nvPr>
            <p:ph type="ftr" sz="quarter" idx="11"/>
          </p:nvPr>
        </p:nvSpPr>
        <p:spPr/>
        <p:txBody>
          <a:bodyPr/>
          <a:lstStyle/>
          <a:p>
            <a:r>
              <a:rPr lang="en-US" dirty="0"/>
              <a:t>All Rights Reserved by Matrix Masters 2025</a:t>
            </a:r>
          </a:p>
        </p:txBody>
      </p:sp>
      <p:pic>
        <p:nvPicPr>
          <p:cNvPr id="9" name="Picture 8">
            <a:extLst>
              <a:ext uri="{FF2B5EF4-FFF2-40B4-BE49-F238E27FC236}">
                <a16:creationId xmlns:a16="http://schemas.microsoft.com/office/drawing/2014/main" id="{4C71E2B2-6703-5F11-78DC-0026F13C5441}"/>
              </a:ext>
            </a:extLst>
          </p:cNvPr>
          <p:cNvPicPr/>
          <p:nvPr/>
        </p:nvPicPr>
        <p:blipFill>
          <a:blip r:embed="rId2"/>
          <a:stretch>
            <a:fillRect/>
          </a:stretch>
        </p:blipFill>
        <p:spPr>
          <a:xfrm>
            <a:off x="9959926" y="164992"/>
            <a:ext cx="2016370" cy="1062110"/>
          </a:xfrm>
          <a:prstGeom prst="rect">
            <a:avLst/>
          </a:prstGeom>
        </p:spPr>
      </p:pic>
      <p:sp>
        <p:nvSpPr>
          <p:cNvPr id="11" name="Content Placeholder 10">
            <a:extLst>
              <a:ext uri="{FF2B5EF4-FFF2-40B4-BE49-F238E27FC236}">
                <a16:creationId xmlns:a16="http://schemas.microsoft.com/office/drawing/2014/main" id="{5C600146-3533-19C9-7B7C-8C49D500CDB8}"/>
              </a:ext>
            </a:extLst>
          </p:cNvPr>
          <p:cNvSpPr>
            <a:spLocks noGrp="1"/>
          </p:cNvSpPr>
          <p:nvPr>
            <p:ph idx="1"/>
          </p:nvPr>
        </p:nvSpPr>
        <p:spPr>
          <a:xfrm>
            <a:off x="1041009" y="1690688"/>
            <a:ext cx="10312791" cy="4665662"/>
          </a:xfrm>
        </p:spPr>
        <p:txBody>
          <a:bodyPr>
            <a:normAutofit/>
          </a:bodyPr>
          <a:lstStyle/>
          <a:p>
            <a:pPr lvl="0" algn="just" fontAlgn="base"/>
            <a:r>
              <a:rPr lang="en-US" dirty="0">
                <a:latin typeface="Times New Roman" panose="02020603050405020304" pitchFamily="18" charset="0"/>
                <a:cs typeface="Times New Roman" panose="02020603050405020304" pitchFamily="18" charset="0"/>
              </a:rPr>
              <a:t>Although, it depends on a number of factors, like quantity (the more, the better) and quality of data, and hyperparameters used to tune and train model; more data should be used for training, and hyperparameters should be further tuned to find the most optimal setting for training to get the best results. We were using less amount of numerical sequences as data to demonstrate our sample project due to time and computational constraints, but that can be improved if we use better resources, like cloud.</a:t>
            </a:r>
          </a:p>
        </p:txBody>
      </p:sp>
    </p:spTree>
    <p:extLst>
      <p:ext uri="{BB962C8B-B14F-4D97-AF65-F5344CB8AC3E}">
        <p14:creationId xmlns:p14="http://schemas.microsoft.com/office/powerpoint/2010/main" val="1798395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3FDD5-8C07-ADC4-FC11-2BE3F768C0D5}"/>
              </a:ext>
            </a:extLst>
          </p:cNvPr>
          <p:cNvSpPr>
            <a:spLocks noGrp="1"/>
          </p:cNvSpPr>
          <p:nvPr>
            <p:ph type="title"/>
          </p:nvPr>
        </p:nvSpPr>
        <p:spPr/>
        <p:txBody>
          <a:bodyPr/>
          <a:lstStyle/>
          <a:p>
            <a:r>
              <a:rPr lang="de-DE" dirty="0"/>
              <a:t>References</a:t>
            </a:r>
          </a:p>
        </p:txBody>
      </p:sp>
      <p:sp>
        <p:nvSpPr>
          <p:cNvPr id="3" name="Content Placeholder 2">
            <a:extLst>
              <a:ext uri="{FF2B5EF4-FFF2-40B4-BE49-F238E27FC236}">
                <a16:creationId xmlns:a16="http://schemas.microsoft.com/office/drawing/2014/main" id="{166A9921-4844-A39A-2BC2-BBE020D4A7BE}"/>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rPr>
              <a:t>J. Hawkins and S. Blakeslee, “On Intelligence”, Henry Holt, New York, 2004.</a:t>
            </a:r>
            <a:endParaRPr lang="de-DE" sz="1800" dirty="0">
              <a:effectLst/>
              <a:latin typeface="Times New Roman" panose="02020603050405020304" pitchFamily="18" charset="0"/>
              <a:ea typeface="MS Mincho" panose="02020609040205080304" pitchFamily="49" charset="-128"/>
            </a:endParaRPr>
          </a:p>
          <a:p>
            <a:r>
              <a:rPr lang="en-US" sz="1800" dirty="0">
                <a:effectLst/>
                <a:latin typeface="Times New Roman" panose="02020603050405020304" pitchFamily="18" charset="0"/>
                <a:ea typeface="MS Mincho" panose="02020609040205080304" pitchFamily="49" charset="-128"/>
              </a:rPr>
              <a:t>J. </a:t>
            </a:r>
            <a:r>
              <a:rPr lang="en-US" sz="1800" dirty="0" err="1">
                <a:effectLst/>
                <a:latin typeface="Times New Roman" panose="02020603050405020304" pitchFamily="18" charset="0"/>
                <a:ea typeface="MS Mincho" panose="02020609040205080304" pitchFamily="49" charset="-128"/>
              </a:rPr>
              <a:t>Struye</a:t>
            </a:r>
            <a:r>
              <a:rPr lang="en-US" sz="1800" dirty="0">
                <a:effectLst/>
                <a:latin typeface="Times New Roman" panose="02020603050405020304" pitchFamily="18" charset="0"/>
                <a:ea typeface="MS Mincho" panose="02020609040205080304" pitchFamily="49" charset="-128"/>
              </a:rPr>
              <a:t> and S. </a:t>
            </a:r>
            <a:r>
              <a:rPr lang="en-US" sz="1800" dirty="0" err="1">
                <a:effectLst/>
                <a:latin typeface="Times New Roman" panose="02020603050405020304" pitchFamily="18" charset="0"/>
                <a:ea typeface="MS Mincho" panose="02020609040205080304" pitchFamily="49" charset="-128"/>
              </a:rPr>
              <a:t>Latré</a:t>
            </a:r>
            <a:r>
              <a:rPr lang="en-US" sz="1800" dirty="0">
                <a:effectLst/>
                <a:latin typeface="Times New Roman" panose="02020603050405020304" pitchFamily="18" charset="0"/>
                <a:ea typeface="MS Mincho" panose="02020609040205080304" pitchFamily="49" charset="-128"/>
              </a:rPr>
              <a:t>, “Hierarchical temporal memory and recurrent neural networks for time series prediction: An empirical validation and reduction to multilayer </a:t>
            </a:r>
            <a:r>
              <a:rPr lang="en-US" sz="1800" dirty="0" err="1">
                <a:effectLst/>
                <a:latin typeface="Times New Roman" panose="02020603050405020304" pitchFamily="18" charset="0"/>
                <a:ea typeface="MS Mincho" panose="02020609040205080304" pitchFamily="49" charset="-128"/>
              </a:rPr>
              <a:t>perceptrons</a:t>
            </a:r>
            <a:r>
              <a:rPr lang="en-US" sz="1800" dirty="0">
                <a:effectLst/>
                <a:latin typeface="Times New Roman" panose="02020603050405020304" pitchFamily="18" charset="0"/>
                <a:ea typeface="MS Mincho" panose="02020609040205080304" pitchFamily="49" charset="-128"/>
              </a:rPr>
              <a:t>,” Neurocomputing, vol. 396, pp. 291–301, Jul. 2020, </a:t>
            </a:r>
            <a:r>
              <a:rPr lang="en-US" sz="1800" dirty="0" err="1">
                <a:effectLst/>
                <a:latin typeface="Times New Roman" panose="02020603050405020304" pitchFamily="18" charset="0"/>
                <a:ea typeface="MS Mincho" panose="02020609040205080304" pitchFamily="49" charset="-128"/>
              </a:rPr>
              <a:t>doi</a:t>
            </a:r>
            <a:r>
              <a:rPr lang="en-US" sz="1800" dirty="0">
                <a:effectLst/>
                <a:latin typeface="Times New Roman" panose="02020603050405020304" pitchFamily="18" charset="0"/>
                <a:ea typeface="MS Mincho" panose="02020609040205080304" pitchFamily="49" charset="-128"/>
              </a:rPr>
              <a:t>: https://doi.org/10.1016/j.neucom.2018.09.098.</a:t>
            </a:r>
            <a:endParaRPr lang="de-DE" sz="1800" dirty="0">
              <a:effectLst/>
              <a:latin typeface="Times New Roman" panose="02020603050405020304" pitchFamily="18" charset="0"/>
              <a:ea typeface="MS Mincho" panose="02020609040205080304" pitchFamily="49" charset="-128"/>
            </a:endParaRPr>
          </a:p>
          <a:p>
            <a:r>
              <a:rPr lang="en-US" sz="1800" dirty="0">
                <a:effectLst/>
                <a:latin typeface="Times New Roman" panose="02020603050405020304" pitchFamily="18" charset="0"/>
                <a:ea typeface="MS Mincho" panose="02020609040205080304" pitchFamily="49" charset="-128"/>
              </a:rPr>
              <a:t>J. A. Starzyk, and H. He, “</a:t>
            </a:r>
            <a:r>
              <a:rPr lang="en-US" sz="1800" dirty="0" err="1">
                <a:effectLst/>
                <a:latin typeface="Times New Roman" panose="02020603050405020304" pitchFamily="18" charset="0"/>
                <a:ea typeface="MS Mincho" panose="02020609040205080304" pitchFamily="49" charset="-128"/>
              </a:rPr>
              <a:t>Spatio</a:t>
            </a:r>
            <a:r>
              <a:rPr lang="en-US" sz="1800" dirty="0">
                <a:effectLst/>
                <a:latin typeface="Times New Roman" panose="02020603050405020304" pitchFamily="18" charset="0"/>
                <a:ea typeface="MS Mincho" panose="02020609040205080304" pitchFamily="49" charset="-128"/>
              </a:rPr>
              <a:t>–Temporal Memories for Machine Learning: A Long-Term Memory Organization”, IEEE TRANSACTIONS ON NEURAL NETWORKS, vol. 20, no. 5, pp. 68-780, 2009.</a:t>
            </a:r>
            <a:endParaRPr lang="de-DE" sz="1800" dirty="0">
              <a:effectLst/>
              <a:latin typeface="Times New Roman" panose="02020603050405020304" pitchFamily="18" charset="0"/>
              <a:ea typeface="MS Mincho" panose="02020609040205080304" pitchFamily="49" charset="-128"/>
            </a:endParaRPr>
          </a:p>
          <a:p>
            <a:r>
              <a:rPr lang="en-US" sz="1800" dirty="0">
                <a:effectLst/>
                <a:latin typeface="Times New Roman" panose="02020603050405020304" pitchFamily="18" charset="0"/>
                <a:ea typeface="MS Mincho" panose="02020609040205080304" pitchFamily="49" charset="-128"/>
              </a:rPr>
              <a:t>J. Wu, W. Zeng, and F. Yan, “Hierarchical Temporal Memory method for time-series-based anomaly detection,” Neurocomputing, vol. 273, pp. 535–546, Jan. 2018, </a:t>
            </a:r>
            <a:r>
              <a:rPr lang="en-US" sz="1800" dirty="0" err="1">
                <a:effectLst/>
                <a:latin typeface="Times New Roman" panose="02020603050405020304" pitchFamily="18" charset="0"/>
                <a:ea typeface="MS Mincho" panose="02020609040205080304" pitchFamily="49" charset="-128"/>
              </a:rPr>
              <a:t>doi</a:t>
            </a:r>
            <a:r>
              <a:rPr lang="en-US" sz="1800" dirty="0">
                <a:effectLst/>
                <a:latin typeface="Times New Roman" panose="02020603050405020304" pitchFamily="18" charset="0"/>
                <a:ea typeface="MS Mincho" panose="02020609040205080304" pitchFamily="49" charset="-128"/>
              </a:rPr>
              <a:t>: </a:t>
            </a:r>
            <a:r>
              <a:rPr lang="en-US" sz="1800" u="none" strike="noStrike" dirty="0">
                <a:solidFill>
                  <a:srgbClr val="0563C1"/>
                </a:solidFill>
                <a:effectLst/>
                <a:latin typeface="Times New Roman" panose="02020603050405020304" pitchFamily="18" charset="0"/>
                <a:ea typeface="MS Mincho" panose="02020609040205080304" pitchFamily="49" charset="-128"/>
                <a:hlinkClick r:id="rId2"/>
              </a:rPr>
              <a:t>https://doi.org/10.1016/j.neucom.2017.08.026</a:t>
            </a:r>
            <a:r>
              <a:rPr lang="en-US" sz="1800" dirty="0">
                <a:effectLst/>
                <a:latin typeface="Times New Roman" panose="02020603050405020304" pitchFamily="18" charset="0"/>
                <a:ea typeface="MS Mincho" panose="02020609040205080304" pitchFamily="49" charset="-128"/>
              </a:rPr>
              <a:t>.</a:t>
            </a:r>
            <a:endParaRPr lang="de-DE" sz="1800" dirty="0">
              <a:effectLst/>
              <a:latin typeface="Times New Roman" panose="02020603050405020304" pitchFamily="18" charset="0"/>
              <a:ea typeface="MS Mincho" panose="02020609040205080304" pitchFamily="49" charset="-128"/>
            </a:endParaRPr>
          </a:p>
          <a:p>
            <a:r>
              <a:rPr lang="de-DE" sz="1800" dirty="0">
                <a:effectLst/>
                <a:latin typeface="Times New Roman" panose="02020603050405020304" pitchFamily="18" charset="0"/>
                <a:ea typeface="MS Mincho" panose="02020609040205080304" pitchFamily="49" charset="-128"/>
              </a:rPr>
              <a:t> </a:t>
            </a:r>
            <a:r>
              <a:rPr lang="en-US" sz="1800" dirty="0">
                <a:effectLst/>
                <a:latin typeface="Times New Roman" panose="02020603050405020304" pitchFamily="18" charset="0"/>
                <a:ea typeface="MS Mincho" panose="02020609040205080304" pitchFamily="49" charset="-128"/>
              </a:rPr>
              <a:t>“A Machine Learning Guide to HTM (Hierarchical Temporal Memory),” </a:t>
            </a:r>
            <a:r>
              <a:rPr lang="en-US" sz="1800" dirty="0" err="1">
                <a:effectLst/>
                <a:latin typeface="Times New Roman" panose="02020603050405020304" pitchFamily="18" charset="0"/>
                <a:ea typeface="MS Mincho" panose="02020609040205080304" pitchFamily="49" charset="-128"/>
              </a:rPr>
              <a:t>Numenta</a:t>
            </a:r>
            <a:r>
              <a:rPr lang="en-US" sz="1800" dirty="0">
                <a:effectLst/>
                <a:latin typeface="Times New Roman" panose="02020603050405020304" pitchFamily="18" charset="0"/>
                <a:ea typeface="MS Mincho" panose="02020609040205080304" pitchFamily="49" charset="-128"/>
              </a:rPr>
              <a:t>. https://www.numenta.com/blog/2019/10/24/machine-learning-guide-to-htm/, (Last Accessed: 22.03,2024).</a:t>
            </a:r>
            <a:endParaRPr lang="de-DE" sz="1800" dirty="0">
              <a:effectLst/>
              <a:latin typeface="Times New Roman" panose="02020603050405020304" pitchFamily="18" charset="0"/>
              <a:ea typeface="MS Mincho" panose="02020609040205080304" pitchFamily="49" charset="-128"/>
            </a:endParaRPr>
          </a:p>
          <a:p>
            <a:endParaRPr lang="de-DE" dirty="0"/>
          </a:p>
        </p:txBody>
      </p:sp>
      <p:sp>
        <p:nvSpPr>
          <p:cNvPr id="4" name="Footer Placeholder 3">
            <a:extLst>
              <a:ext uri="{FF2B5EF4-FFF2-40B4-BE49-F238E27FC236}">
                <a16:creationId xmlns:a16="http://schemas.microsoft.com/office/drawing/2014/main" id="{F0FE6C00-9DD6-1581-EC04-E9CC687A568F}"/>
              </a:ext>
            </a:extLst>
          </p:cNvPr>
          <p:cNvSpPr>
            <a:spLocks noGrp="1"/>
          </p:cNvSpPr>
          <p:nvPr>
            <p:ph type="ftr" sz="quarter" idx="11"/>
          </p:nvPr>
        </p:nvSpPr>
        <p:spPr/>
        <p:txBody>
          <a:bodyPr/>
          <a:lstStyle/>
          <a:p>
            <a:r>
              <a:rPr lang="en-US" dirty="0"/>
              <a:t>All Rights Reserved by Matrix Masters 2025</a:t>
            </a:r>
          </a:p>
        </p:txBody>
      </p:sp>
      <p:pic>
        <p:nvPicPr>
          <p:cNvPr id="5" name="Picture 4">
            <a:extLst>
              <a:ext uri="{FF2B5EF4-FFF2-40B4-BE49-F238E27FC236}">
                <a16:creationId xmlns:a16="http://schemas.microsoft.com/office/drawing/2014/main" id="{F4503304-C7B7-47E1-F666-F29CB65C721F}"/>
              </a:ext>
            </a:extLst>
          </p:cNvPr>
          <p:cNvPicPr/>
          <p:nvPr/>
        </p:nvPicPr>
        <p:blipFill>
          <a:blip r:embed="rId3"/>
          <a:stretch>
            <a:fillRect/>
          </a:stretch>
        </p:blipFill>
        <p:spPr>
          <a:xfrm>
            <a:off x="9959926" y="164992"/>
            <a:ext cx="2016370" cy="1062110"/>
          </a:xfrm>
          <a:prstGeom prst="rect">
            <a:avLst/>
          </a:prstGeom>
        </p:spPr>
      </p:pic>
    </p:spTree>
    <p:extLst>
      <p:ext uri="{BB962C8B-B14F-4D97-AF65-F5344CB8AC3E}">
        <p14:creationId xmlns:p14="http://schemas.microsoft.com/office/powerpoint/2010/main" val="1258568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AEFFD-72BC-4AB4-91E2-C892A73C7D8F}"/>
              </a:ext>
            </a:extLst>
          </p:cNvPr>
          <p:cNvSpPr>
            <a:spLocks noGrp="1"/>
          </p:cNvSpPr>
          <p:nvPr>
            <p:ph type="title"/>
          </p:nvPr>
        </p:nvSpPr>
        <p:spPr>
          <a:xfrm>
            <a:off x="3476772" y="2223330"/>
            <a:ext cx="5238456" cy="1758462"/>
          </a:xfrm>
        </p:spPr>
        <p:txBody>
          <a:bodyPr>
            <a:normAutofit/>
          </a:bodyPr>
          <a:lstStyle/>
          <a:p>
            <a:pPr algn="ctr"/>
            <a:r>
              <a:rPr lang="en-US" sz="5400" b="1" dirty="0">
                <a:latin typeface="Times New Roman" panose="02020603050405020304" pitchFamily="18" charset="0"/>
                <a:cs typeface="Times New Roman" panose="02020603050405020304" pitchFamily="18" charset="0"/>
              </a:rPr>
              <a:t>Thank You</a:t>
            </a:r>
          </a:p>
        </p:txBody>
      </p:sp>
      <p:sp>
        <p:nvSpPr>
          <p:cNvPr id="4" name="Footer Placeholder 3">
            <a:extLst>
              <a:ext uri="{FF2B5EF4-FFF2-40B4-BE49-F238E27FC236}">
                <a16:creationId xmlns:a16="http://schemas.microsoft.com/office/drawing/2014/main" id="{7D7D7A81-E646-4D30-9AAD-B0269DAFBF1C}"/>
              </a:ext>
            </a:extLst>
          </p:cNvPr>
          <p:cNvSpPr>
            <a:spLocks noGrp="1"/>
          </p:cNvSpPr>
          <p:nvPr>
            <p:ph type="ftr" sz="quarter" idx="11"/>
          </p:nvPr>
        </p:nvSpPr>
        <p:spPr/>
        <p:txBody>
          <a:bodyPr/>
          <a:lstStyle/>
          <a:p>
            <a:r>
              <a:rPr lang="en-US" dirty="0"/>
              <a:t>All Rights Reserved by Matrix Masters 2025</a:t>
            </a:r>
          </a:p>
        </p:txBody>
      </p:sp>
      <p:pic>
        <p:nvPicPr>
          <p:cNvPr id="5" name="Picture 4">
            <a:extLst>
              <a:ext uri="{FF2B5EF4-FFF2-40B4-BE49-F238E27FC236}">
                <a16:creationId xmlns:a16="http://schemas.microsoft.com/office/drawing/2014/main" id="{D61D2AFC-5F97-4F2B-97DE-DBC9790BCB72}"/>
              </a:ext>
            </a:extLst>
          </p:cNvPr>
          <p:cNvPicPr/>
          <p:nvPr/>
        </p:nvPicPr>
        <p:blipFill>
          <a:blip r:embed="rId2"/>
          <a:stretch>
            <a:fillRect/>
          </a:stretch>
        </p:blipFill>
        <p:spPr>
          <a:xfrm>
            <a:off x="9959926" y="164992"/>
            <a:ext cx="2016370" cy="1062110"/>
          </a:xfrm>
          <a:prstGeom prst="rect">
            <a:avLst/>
          </a:prstGeom>
        </p:spPr>
      </p:pic>
    </p:spTree>
    <p:extLst>
      <p:ext uri="{BB962C8B-B14F-4D97-AF65-F5344CB8AC3E}">
        <p14:creationId xmlns:p14="http://schemas.microsoft.com/office/powerpoint/2010/main" val="3668774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2049</Words>
  <Application>Microsoft Macintosh PowerPoint</Application>
  <PresentationFormat>Widescreen</PresentationFormat>
  <Paragraphs>138</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-apple-system</vt:lpstr>
      <vt:lpstr>Arial</vt:lpstr>
      <vt:lpstr>Calibri</vt:lpstr>
      <vt:lpstr>Calibri Light</vt:lpstr>
      <vt:lpstr>Times New Roman</vt:lpstr>
      <vt:lpstr>Office Theme</vt:lpstr>
      <vt:lpstr>Information Technology Course Module Software Engineering by Damir Dobric / Andreas Pech </vt:lpstr>
      <vt:lpstr>Presentation Topics</vt:lpstr>
      <vt:lpstr>Introduction and Objective</vt:lpstr>
      <vt:lpstr>Introduction and Objective</vt:lpstr>
      <vt:lpstr>NeoCortex API</vt:lpstr>
      <vt:lpstr>Hierarchical Temporal Memory (HTM)</vt:lpstr>
      <vt:lpstr>Multi Sequence Learning</vt:lpstr>
      <vt:lpstr>DataSet</vt:lpstr>
      <vt:lpstr>Execution of the project</vt:lpstr>
      <vt:lpstr>Execution of the project (Cont.)</vt:lpstr>
      <vt:lpstr>Execution of the project (Cont.)</vt:lpstr>
      <vt:lpstr>Execution of the project (Cont.)</vt:lpstr>
      <vt:lpstr>Execution of the project (Cont.)</vt:lpstr>
      <vt:lpstr>Execution of the project (Cont.)</vt:lpstr>
      <vt:lpstr>Execution of the project (Cont.)</vt:lpstr>
      <vt:lpstr>Unit Test project</vt:lpstr>
      <vt:lpstr>Results</vt:lpstr>
      <vt:lpstr>Graphical Results</vt:lpstr>
      <vt:lpstr>Graphical Results</vt:lpstr>
      <vt:lpstr>Conclusion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abdulla a lmhamud rosi rosi</cp:lastModifiedBy>
  <cp:revision>7</cp:revision>
  <dcterms:created xsi:type="dcterms:W3CDTF">2025-03-27T12:18:28Z</dcterms:created>
  <dcterms:modified xsi:type="dcterms:W3CDTF">2025-03-28T13:17:34Z</dcterms:modified>
</cp:coreProperties>
</file>